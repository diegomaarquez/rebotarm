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96" d="100"/>
          <a:sy n="96" d="100"/>
        </p:scale>
        <p:origin x="2736" y="13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47EDF0-6DA1-4EB6-8DCF-AA27D34B0CDD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3DA0FA-8DFD-47DF-BB73-F02ACB8C7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87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3DA0FA-8DFD-47DF-BB73-F02ACB8C77F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2519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5781675"/>
            <a:ext cx="10668000" cy="466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762000" y="5781675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9305925" y="6019800"/>
            <a:ext cx="1428750" cy="22860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10829925" y="6019800"/>
            <a:ext cx="600075" cy="22860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609600"/>
            <a:ext cx="314325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90625" y="642937"/>
            <a:ext cx="3669274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38BDF8"/>
                </a:solidFill>
                <a:latin typeface="Trebuchet MS" panose="020B0603020202020204" pitchFamily="34" charset="0"/>
              </a:rPr>
              <a:t>INTEGRACIÓN MECATRÓNICA · PROYECTO FINAL 6-DOF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316609"/>
            <a:ext cx="7348294" cy="55143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312"/>
              </a:lnSpc>
            </a:pPr>
            <a:r>
              <a:rPr sz="3750" b="1" i="0" u="none" dirty="0" err="1">
                <a:solidFill>
                  <a:srgbClr val="F8FAFC"/>
                </a:solidFill>
                <a:latin typeface="Trebuchet MS" panose="020B0603020202020204" pitchFamily="34" charset="0"/>
              </a:rPr>
              <a:t>Brazo</a:t>
            </a:r>
            <a:r>
              <a:rPr sz="3750" b="1" i="0" u="none" dirty="0">
                <a:solidFill>
                  <a:srgbClr val="F8FAFC"/>
                </a:solidFill>
                <a:latin typeface="Trebuchet MS" panose="020B0603020202020204" pitchFamily="34" charset="0"/>
              </a:rPr>
              <a:t> </a:t>
            </a:r>
            <a:r>
              <a:rPr sz="3750" b="1" i="0" u="none" dirty="0" err="1">
                <a:solidFill>
                  <a:srgbClr val="F8FAFC"/>
                </a:solidFill>
                <a:latin typeface="Trebuchet MS" panose="020B0603020202020204" pitchFamily="34" charset="0"/>
              </a:rPr>
              <a:t>Robótico</a:t>
            </a:r>
            <a:r>
              <a:rPr sz="3750" b="1" i="0" u="none" dirty="0">
                <a:solidFill>
                  <a:srgbClr val="F8FAFC"/>
                </a:solidFill>
                <a:latin typeface="Trebuchet MS" panose="020B0603020202020204" pitchFamily="34" charset="0"/>
              </a:rPr>
              <a:t> </a:t>
            </a:r>
            <a:r>
              <a:rPr sz="3750" b="1" i="0" u="none" dirty="0" err="1">
                <a:solidFill>
                  <a:srgbClr val="F8FAFC"/>
                </a:solidFill>
                <a:latin typeface="Trebuchet MS" panose="020B0603020202020204" pitchFamily="34" charset="0"/>
              </a:rPr>
              <a:t>Articulado</a:t>
            </a:r>
            <a:r>
              <a:rPr sz="3750" b="1" i="0" u="none" dirty="0">
                <a:solidFill>
                  <a:srgbClr val="F8FAFC"/>
                </a:solidFill>
                <a:latin typeface="Trebuchet MS" panose="020B0603020202020204" pitchFamily="34" charset="0"/>
              </a:rPr>
              <a:t> 6-DOF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902581"/>
            <a:ext cx="7905750" cy="5640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 dirty="0" err="1">
                <a:solidFill>
                  <a:srgbClr val="94A3B8"/>
                </a:solidFill>
                <a:latin typeface="Segoe UI" panose="020B0502040204020203" pitchFamily="34" charset="0"/>
              </a:rPr>
              <a:t>Transición</a:t>
            </a:r>
            <a:r>
              <a:rPr sz="1650" b="0" i="0" u="none" dirty="0">
                <a:solidFill>
                  <a:srgbClr val="94A3B8"/>
                </a:solidFill>
                <a:latin typeface="Segoe UI" panose="020B0502040204020203" pitchFamily="34" charset="0"/>
              </a:rPr>
              <a:t> de </a:t>
            </a:r>
            <a:r>
              <a:rPr sz="1650" b="0" i="0" u="none" dirty="0" err="1">
                <a:solidFill>
                  <a:srgbClr val="94A3B8"/>
                </a:solidFill>
                <a:latin typeface="Segoe UI" panose="020B0502040204020203" pitchFamily="34" charset="0"/>
              </a:rPr>
              <a:t>Actuación</a:t>
            </a:r>
            <a:r>
              <a:rPr sz="1650" b="0" i="0" u="none" dirty="0">
                <a:solidFill>
                  <a:srgbClr val="94A3B8"/>
                </a:solidFill>
                <a:latin typeface="Segoe UI" panose="020B0502040204020203" pitchFamily="34" charset="0"/>
              </a:rPr>
              <a:t> Directa a </a:t>
            </a:r>
            <a:r>
              <a:rPr sz="1650" b="0" i="0" u="none" dirty="0" err="1">
                <a:solidFill>
                  <a:srgbClr val="94A3B8"/>
                </a:solidFill>
                <a:latin typeface="Segoe UI" panose="020B0502040204020203" pitchFamily="34" charset="0"/>
              </a:rPr>
              <a:t>Transmisión</a:t>
            </a:r>
            <a:r>
              <a:rPr sz="1650" b="0" i="0" u="none" dirty="0">
                <a:solidFill>
                  <a:srgbClr val="94A3B8"/>
                </a:solidFill>
                <a:latin typeface="Segoe UI" panose="020B0502040204020203" pitchFamily="34" charset="0"/>
              </a:rPr>
              <a:t> </a:t>
            </a:r>
            <a:r>
              <a:rPr sz="1650" b="0" i="0" u="none" dirty="0" err="1">
                <a:solidFill>
                  <a:srgbClr val="94A3B8"/>
                </a:solidFill>
                <a:latin typeface="Segoe UI" panose="020B0502040204020203" pitchFamily="34" charset="0"/>
              </a:rPr>
              <a:t>por</a:t>
            </a:r>
            <a:r>
              <a:rPr sz="1650" b="0" i="0" u="none" dirty="0">
                <a:solidFill>
                  <a:srgbClr val="94A3B8"/>
                </a:solidFill>
                <a:latin typeface="Segoe UI" panose="020B0502040204020203" pitchFamily="34" charset="0"/>
              </a:rPr>
              <a:t> </a:t>
            </a:r>
            <a:r>
              <a:rPr sz="1650" b="0" i="0" u="none" dirty="0" err="1">
                <a:solidFill>
                  <a:srgbClr val="94A3B8"/>
                </a:solidFill>
                <a:latin typeface="Segoe UI" panose="020B0502040204020203" pitchFamily="34" charset="0"/>
              </a:rPr>
              <a:t>Poleas</a:t>
            </a:r>
            <a:r>
              <a:rPr sz="1650" b="0" i="0" u="none" dirty="0">
                <a:solidFill>
                  <a:srgbClr val="94A3B8"/>
                </a:solidFill>
                <a:latin typeface="Segoe UI" panose="020B0502040204020203" pitchFamily="34" charset="0"/>
              </a:rPr>
              <a:t> </a:t>
            </a:r>
            <a:r>
              <a:rPr sz="1650" b="0" i="0" u="none" dirty="0" err="1">
                <a:solidFill>
                  <a:srgbClr val="94A3B8"/>
                </a:solidFill>
                <a:latin typeface="Segoe UI" panose="020B0502040204020203" pitchFamily="34" charset="0"/>
              </a:rPr>
              <a:t>Síncronas</a:t>
            </a:r>
            <a:r>
              <a:rPr sz="1650" b="0" i="0" u="none" dirty="0">
                <a:solidFill>
                  <a:srgbClr val="94A3B8"/>
                </a:solidFill>
                <a:latin typeface="Segoe UI" panose="020B0502040204020203" pitchFamily="34" charset="0"/>
              </a:rPr>
              <a:t>, </a:t>
            </a:r>
            <a:r>
              <a:rPr sz="1650" b="0" i="0" u="none" dirty="0" err="1">
                <a:solidFill>
                  <a:srgbClr val="94A3B8"/>
                </a:solidFill>
                <a:latin typeface="Segoe UI" panose="020B0502040204020203" pitchFamily="34" charset="0"/>
              </a:rPr>
              <a:t>Reducción</a:t>
            </a:r>
            <a:r>
              <a:rPr sz="1650" b="0" i="0" u="none" dirty="0">
                <a:solidFill>
                  <a:srgbClr val="94A3B8"/>
                </a:solidFill>
                <a:latin typeface="Segoe UI" panose="020B0502040204020203" pitchFamily="34" charset="0"/>
              </a:rPr>
              <a:t> de </a:t>
            </a:r>
            <a:r>
              <a:rPr sz="1650" b="0" i="0" u="none" dirty="0" err="1">
                <a:solidFill>
                  <a:srgbClr val="94A3B8"/>
                </a:solidFill>
                <a:latin typeface="Segoe UI" panose="020B0502040204020203" pitchFamily="34" charset="0"/>
              </a:rPr>
              <a:t>Inercia</a:t>
            </a:r>
            <a:r>
              <a:rPr sz="1650" b="0" i="0" u="none" dirty="0">
                <a:solidFill>
                  <a:srgbClr val="94A3B8"/>
                </a:solidFill>
                <a:latin typeface="Segoe UI" panose="020B0502040204020203" pitchFamily="34" charset="0"/>
              </a:rPr>
              <a:t> y </a:t>
            </a:r>
            <a:r>
              <a:rPr sz="1650" b="0" i="0" u="none" dirty="0" err="1">
                <a:solidFill>
                  <a:srgbClr val="94A3B8"/>
                </a:solidFill>
                <a:latin typeface="Segoe UI" panose="020B0502040204020203" pitchFamily="34" charset="0"/>
              </a:rPr>
              <a:t>Cálculos</a:t>
            </a:r>
            <a:r>
              <a:rPr sz="1650" b="0" i="0" u="none" dirty="0">
                <a:solidFill>
                  <a:srgbClr val="94A3B8"/>
                </a:solidFill>
                <a:latin typeface="Segoe UI" panose="020B0502040204020203" pitchFamily="34" charset="0"/>
              </a:rPr>
              <a:t> con FS=3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043612"/>
            <a:ext cx="4199868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Segoe UI" panose="020B0502040204020203" pitchFamily="34" charset="0"/>
              </a:rPr>
              <a:t>Especificación Técnica de los 22 Puntos de Ingeniería Mecatrónica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20225" y="6057900"/>
            <a:ext cx="12954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Segoe UI" panose="020B0502040204020203" pitchFamily="34" charset="0"/>
              </a:rPr>
              <a:t>Payload 1.5 kg - 5 kg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44225" y="6057900"/>
            <a:ext cx="4667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4D399"/>
                </a:solidFill>
                <a:latin typeface="Segoe UI" panose="020B0502040204020203" pitchFamily="34" charset="0"/>
              </a:rPr>
              <a:t>FS = 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C1FEC9-8A67-2DA5-0A1F-BDA7F3F79737}"/>
              </a:ext>
            </a:extLst>
          </p:cNvPr>
          <p:cNvSpPr txBox="1"/>
          <p:nvPr/>
        </p:nvSpPr>
        <p:spPr>
          <a:xfrm>
            <a:off x="438150" y="3085493"/>
            <a:ext cx="268287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i="0" u="none" dirty="0" err="1">
                <a:solidFill>
                  <a:srgbClr val="00B0F0"/>
                </a:solidFill>
                <a:latin typeface="Trebuchet MS" panose="020B0603020202020204" pitchFamily="34" charset="0"/>
              </a:rPr>
              <a:t>D</a:t>
            </a:r>
            <a:r>
              <a:rPr lang="en-US" sz="1800" b="1" i="0" u="none" dirty="0" err="1">
                <a:solidFill>
                  <a:srgbClr val="F8FAFC"/>
                </a:solidFill>
                <a:latin typeface="Trebuchet MS" panose="020B0603020202020204" pitchFamily="34" charset="0"/>
              </a:rPr>
              <a:t>ispositivo</a:t>
            </a:r>
            <a:r>
              <a:rPr lang="en-US" sz="1800" b="1" i="0" u="none" dirty="0">
                <a:solidFill>
                  <a:srgbClr val="F8FAFC"/>
                </a:solidFill>
                <a:latin typeface="Trebuchet MS" panose="020B0603020202020204" pitchFamily="34" charset="0"/>
              </a:rPr>
              <a:t> </a:t>
            </a:r>
          </a:p>
          <a:p>
            <a:pPr algn="ctr"/>
            <a:r>
              <a:rPr lang="en-US" b="1" dirty="0">
                <a:solidFill>
                  <a:srgbClr val="00B0F0"/>
                </a:solidFill>
                <a:latin typeface="Trebuchet MS" panose="020B0603020202020204" pitchFamily="34" charset="0"/>
              </a:rPr>
              <a:t>U</a:t>
            </a:r>
            <a:r>
              <a:rPr lang="en-US" b="1" dirty="0">
                <a:solidFill>
                  <a:srgbClr val="F8FAFC"/>
                </a:solidFill>
                <a:latin typeface="Trebuchet MS" panose="020B0603020202020204" pitchFamily="34" charset="0"/>
              </a:rPr>
              <a:t>niversal </a:t>
            </a:r>
          </a:p>
          <a:p>
            <a:pPr algn="ctr"/>
            <a:r>
              <a:rPr lang="en-US" b="1" dirty="0">
                <a:solidFill>
                  <a:srgbClr val="F8FAFC"/>
                </a:solidFill>
                <a:latin typeface="Trebuchet MS" panose="020B0603020202020204" pitchFamily="34" charset="0"/>
              </a:rPr>
              <a:t>de </a:t>
            </a:r>
          </a:p>
          <a:p>
            <a:pPr algn="ctr"/>
            <a:r>
              <a:rPr lang="en-US" b="1" dirty="0" err="1">
                <a:solidFill>
                  <a:srgbClr val="00B0F0"/>
                </a:solidFill>
                <a:latin typeface="Trebuchet MS" panose="020B0603020202020204" pitchFamily="34" charset="0"/>
              </a:rPr>
              <a:t>M</a:t>
            </a:r>
            <a:r>
              <a:rPr lang="en-US" b="1" dirty="0" err="1">
                <a:solidFill>
                  <a:srgbClr val="F8FAFC"/>
                </a:solidFill>
                <a:latin typeface="Trebuchet MS" panose="020B0603020202020204" pitchFamily="34" charset="0"/>
              </a:rPr>
              <a:t>anipulación</a:t>
            </a:r>
            <a:r>
              <a:rPr lang="en-US" b="1" dirty="0">
                <a:solidFill>
                  <a:srgbClr val="F8FAFC"/>
                </a:solidFill>
                <a:latin typeface="Trebuchet MS" panose="020B0603020202020204" pitchFamily="34" charset="0"/>
              </a:rPr>
              <a:t> </a:t>
            </a:r>
          </a:p>
          <a:p>
            <a:pPr algn="ctr"/>
            <a:r>
              <a:rPr lang="en-US" sz="1800" b="1" i="0" u="none" dirty="0">
                <a:solidFill>
                  <a:srgbClr val="00B0F0"/>
                </a:solidFill>
                <a:latin typeface="Trebuchet MS" panose="020B0603020202020204" pitchFamily="34" charset="0"/>
              </a:rPr>
              <a:t>E</a:t>
            </a:r>
            <a:r>
              <a:rPr lang="en-US" sz="1800" b="1" i="0" u="none" dirty="0">
                <a:solidFill>
                  <a:srgbClr val="F8FAFC"/>
                </a:solidFill>
                <a:latin typeface="Trebuchet MS" panose="020B0603020202020204" pitchFamily="34" charset="0"/>
              </a:rPr>
              <a:t>xperimental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F07127-2147-8D19-5D51-018C8E954996}"/>
              </a:ext>
            </a:extLst>
          </p:cNvPr>
          <p:cNvSpPr txBox="1"/>
          <p:nvPr/>
        </p:nvSpPr>
        <p:spPr>
          <a:xfrm>
            <a:off x="2330450" y="3638088"/>
            <a:ext cx="18764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00B0F0"/>
                </a:solidFill>
                <a:latin typeface="Trebuchet MS" panose="020B0603020202020204" pitchFamily="34" charset="0"/>
              </a:rPr>
              <a:t>DUM-E</a:t>
            </a:r>
            <a:endParaRPr lang="en-US" sz="1800" b="1" i="0" u="none" dirty="0">
              <a:solidFill>
                <a:srgbClr val="F8FAFC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405062"/>
            <a:ext cx="5124450" cy="1095375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3671887"/>
            <a:ext cx="5124450" cy="1295400"/>
          </a:xfrm>
          <a:prstGeom prst="roundRect">
            <a:avLst>
              <a:gd name="adj" fmla="val 294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2000" y="2405062"/>
            <a:ext cx="38100" cy="10953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62000" y="3671887"/>
            <a:ext cx="38100" cy="1295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477000" y="1978025"/>
            <a:ext cx="5124450" cy="34163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8" name="TextBox 7"/>
          <p:cNvSpPr txBox="1"/>
          <p:nvPr/>
        </p:nvSpPr>
        <p:spPr>
          <a:xfrm>
            <a:off x="762000" y="6162675"/>
            <a:ext cx="3473708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Segoe UI" panose="020B0502040204020203" pitchFamily="34" charset="0"/>
              </a:rPr>
              <a:t>Fase I · Diagnóstico Inicial y Planteamiento de Reingeniería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533400"/>
            <a:ext cx="2468625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Segoe UI" panose="020B0502040204020203" pitchFamily="34" charset="0"/>
              </a:rPr>
              <a:t>DEFINICIÓN DEL PROYECTO · PUNTO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771525"/>
            <a:ext cx="5919890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Trebuchet MS" panose="020B0603020202020204" pitchFamily="34" charset="0"/>
              </a:rPr>
              <a:t>Definición del Problema y Necesidad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9650" y="2614612"/>
            <a:ext cx="4134145" cy="21929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 dirty="0" err="1">
                <a:solidFill>
                  <a:srgbClr val="0F172A"/>
                </a:solidFill>
                <a:latin typeface="Segoe UI" panose="020B0502040204020203" pitchFamily="34" charset="0"/>
              </a:rPr>
              <a:t>Limitación</a:t>
            </a:r>
            <a:r>
              <a:rPr sz="1425" b="1" i="0" u="none" dirty="0">
                <a:solidFill>
                  <a:srgbClr val="0F172A"/>
                </a:solidFill>
                <a:latin typeface="Segoe UI" panose="020B0502040204020203" pitchFamily="34" charset="0"/>
              </a:rPr>
              <a:t> </a:t>
            </a:r>
            <a:r>
              <a:rPr sz="1425" b="1" i="0" u="none" dirty="0" err="1">
                <a:solidFill>
                  <a:srgbClr val="0F172A"/>
                </a:solidFill>
                <a:latin typeface="Segoe UI" panose="020B0502040204020203" pitchFamily="34" charset="0"/>
              </a:rPr>
              <a:t>Mecánica</a:t>
            </a:r>
            <a:r>
              <a:rPr sz="1425" b="1" i="0" u="none" dirty="0">
                <a:solidFill>
                  <a:srgbClr val="0F172A"/>
                </a:solidFill>
                <a:latin typeface="Segoe UI" panose="020B0502040204020203" pitchFamily="34" charset="0"/>
              </a:rPr>
              <a:t> de </a:t>
            </a:r>
            <a:r>
              <a:rPr lang="en-US" sz="1425" b="1" i="0" u="none" dirty="0" err="1">
                <a:solidFill>
                  <a:srgbClr val="0F172A"/>
                </a:solidFill>
                <a:latin typeface="Segoe UI" panose="020B0502040204020203" pitchFamily="34" charset="0"/>
              </a:rPr>
              <a:t>motores</a:t>
            </a:r>
            <a:r>
              <a:rPr sz="1425" b="1" i="0" u="none" dirty="0">
                <a:solidFill>
                  <a:srgbClr val="0F172A"/>
                </a:solidFill>
                <a:latin typeface="Segoe UI" panose="020B0502040204020203" pitchFamily="34" charset="0"/>
              </a:rPr>
              <a:t> </a:t>
            </a:r>
            <a:r>
              <a:rPr lang="en-US" sz="1425" b="1" dirty="0" err="1">
                <a:solidFill>
                  <a:srgbClr val="0F172A"/>
                </a:solidFill>
                <a:latin typeface="Segoe UI" panose="020B0502040204020203" pitchFamily="34" charset="0"/>
              </a:rPr>
              <a:t>c</a:t>
            </a:r>
            <a:r>
              <a:rPr sz="1425" b="1" i="0" u="none" dirty="0" err="1">
                <a:solidFill>
                  <a:srgbClr val="0F172A"/>
                </a:solidFill>
                <a:latin typeface="Segoe UI" panose="020B0502040204020203" pitchFamily="34" charset="0"/>
              </a:rPr>
              <a:t>onvencionales</a:t>
            </a:r>
            <a:endParaRPr sz="1425" b="1" i="0" u="none" dirty="0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09650" y="2890837"/>
            <a:ext cx="47625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 dirty="0">
                <a:solidFill>
                  <a:srgbClr val="475569"/>
                </a:solidFill>
                <a:latin typeface="Segoe UI" panose="020B0502040204020203" pitchFamily="34" charset="0"/>
              </a:rPr>
              <a:t>El </a:t>
            </a:r>
            <a:r>
              <a:rPr sz="1125" b="0" i="0" u="none" dirty="0" err="1">
                <a:solidFill>
                  <a:srgbClr val="475569"/>
                </a:solidFill>
                <a:latin typeface="Segoe UI" panose="020B0502040204020203" pitchFamily="34" charset="0"/>
              </a:rPr>
              <a:t>diseño</a:t>
            </a:r>
            <a:r>
              <a:rPr sz="1125" b="0" i="0" u="none" dirty="0">
                <a:solidFill>
                  <a:srgbClr val="475569"/>
                </a:solidFill>
                <a:latin typeface="Segoe UI" panose="020B0502040204020203" pitchFamily="34" charset="0"/>
              </a:rPr>
              <a:t> base con </a:t>
            </a:r>
            <a:r>
              <a:rPr sz="1125" b="0" i="0" u="none" dirty="0" err="1">
                <a:solidFill>
                  <a:srgbClr val="475569"/>
                </a:solidFill>
                <a:latin typeface="Segoe UI" panose="020B0502040204020203" pitchFamily="34" charset="0"/>
              </a:rPr>
              <a:t>servomotores</a:t>
            </a:r>
            <a:r>
              <a:rPr sz="1125" b="0" i="0" u="none" dirty="0">
                <a:solidFill>
                  <a:srgbClr val="475569"/>
                </a:solidFill>
                <a:latin typeface="Segoe UI" panose="020B0502040204020203" pitchFamily="34" charset="0"/>
              </a:rPr>
              <a:t> </a:t>
            </a:r>
            <a:r>
              <a:rPr lang="en-US" sz="1125" b="0" i="0" u="none" dirty="0">
                <a:solidFill>
                  <a:srgbClr val="475569"/>
                </a:solidFill>
                <a:latin typeface="Segoe UI" panose="020B0502040204020203" pitchFamily="34" charset="0"/>
              </a:rPr>
              <a:t>o</a:t>
            </a:r>
            <a:r>
              <a:rPr sz="1125" b="0" i="0" u="none" dirty="0">
                <a:solidFill>
                  <a:srgbClr val="475569"/>
                </a:solidFill>
                <a:latin typeface="Segoe UI" panose="020B0502040204020203" pitchFamily="34" charset="0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Segoe UI" panose="020B0502040204020203" pitchFamily="34" charset="0"/>
              </a:rPr>
              <a:t>motores</a:t>
            </a:r>
            <a:r>
              <a:rPr sz="1125" b="0" i="0" u="none" dirty="0">
                <a:solidFill>
                  <a:srgbClr val="475569"/>
                </a:solidFill>
                <a:latin typeface="Segoe UI" panose="020B0502040204020203" pitchFamily="34" charset="0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Segoe UI" panose="020B0502040204020203" pitchFamily="34" charset="0"/>
              </a:rPr>
              <a:t>directos</a:t>
            </a:r>
            <a:r>
              <a:rPr sz="1125" b="0" i="0" u="none" dirty="0">
                <a:solidFill>
                  <a:srgbClr val="475569"/>
                </a:solidFill>
                <a:latin typeface="Segoe UI" panose="020B0502040204020203" pitchFamily="34" charset="0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Segoe UI" panose="020B0502040204020203" pitchFamily="34" charset="0"/>
              </a:rPr>
              <a:t>distribuidos</a:t>
            </a:r>
            <a:r>
              <a:rPr sz="1125" b="0" i="0" u="none" dirty="0">
                <a:solidFill>
                  <a:srgbClr val="475569"/>
                </a:solidFill>
                <a:latin typeface="Segoe UI" panose="020B0502040204020203" pitchFamily="34" charset="0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Segoe UI" panose="020B0502040204020203" pitchFamily="34" charset="0"/>
              </a:rPr>
              <a:t>colapsa</a:t>
            </a:r>
            <a:r>
              <a:rPr sz="1125" b="0" i="0" u="none" dirty="0">
                <a:solidFill>
                  <a:srgbClr val="475569"/>
                </a:solidFill>
                <a:latin typeface="Segoe UI" panose="020B0502040204020203" pitchFamily="34" charset="0"/>
              </a:rPr>
              <a:t> al </a:t>
            </a:r>
            <a:r>
              <a:rPr sz="1125" b="0" i="0" u="none" dirty="0" err="1">
                <a:solidFill>
                  <a:srgbClr val="475569"/>
                </a:solidFill>
                <a:latin typeface="Segoe UI" panose="020B0502040204020203" pitchFamily="34" charset="0"/>
              </a:rPr>
              <a:t>exigir</a:t>
            </a:r>
            <a:r>
              <a:rPr sz="1125" b="0" i="0" u="none" dirty="0">
                <a:solidFill>
                  <a:srgbClr val="475569"/>
                </a:solidFill>
                <a:latin typeface="Segoe UI" panose="020B0502040204020203" pitchFamily="34" charset="0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Segoe UI" panose="020B0502040204020203" pitchFamily="34" charset="0"/>
              </a:rPr>
              <a:t>manipulación</a:t>
            </a:r>
            <a:r>
              <a:rPr sz="1125" b="0" i="0" u="none" dirty="0">
                <a:solidFill>
                  <a:srgbClr val="475569"/>
                </a:solidFill>
                <a:latin typeface="Segoe UI" panose="020B0502040204020203" pitchFamily="34" charset="0"/>
              </a:rPr>
              <a:t> con un factor de </a:t>
            </a:r>
            <a:r>
              <a:rPr sz="1125" b="0" i="0" u="none" dirty="0" err="1">
                <a:solidFill>
                  <a:srgbClr val="475569"/>
                </a:solidFill>
                <a:latin typeface="Segoe UI" panose="020B0502040204020203" pitchFamily="34" charset="0"/>
              </a:rPr>
              <a:t>seguridad</a:t>
            </a:r>
            <a:r>
              <a:rPr sz="1125" b="0" i="0" u="none" dirty="0">
                <a:solidFill>
                  <a:srgbClr val="475569"/>
                </a:solidFill>
                <a:latin typeface="Segoe UI" panose="020B0502040204020203" pitchFamily="34" charset="0"/>
              </a:rPr>
              <a:t> FS=3.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9650" y="3881437"/>
            <a:ext cx="3244671" cy="21929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Segoe UI" panose="020B0502040204020203" pitchFamily="34" charset="0"/>
              </a:rPr>
              <a:t>Momento Flector Crítico en Eslabones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9650" y="4157662"/>
            <a:ext cx="4762500" cy="39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Segoe UI" panose="020B0502040204020203" pitchFamily="34" charset="0"/>
              </a:rPr>
              <a:t>Cargar 1.5 kg a 5 kg en máxima extensión horizontal genera torques de más de 60 N·m en el hombro, inviables con motores directos colgados.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575470"/>
            <a:ext cx="4648646" cy="2221259"/>
          </a:xfrm>
          <a:prstGeom prst="roundRect">
            <a:avLst>
              <a:gd name="adj" fmla="val 5145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53546" y="2257425"/>
            <a:ext cx="5676453" cy="28575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2908845"/>
            <a:ext cx="228600" cy="228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7871" y="2590800"/>
            <a:ext cx="228600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6162675"/>
            <a:ext cx="2369238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Segoe UI" panose="020B0502040204020203" pitchFamily="34" charset="0"/>
              </a:rPr>
              <a:t>Metodología de Desarrollo Mecatrónico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533400"/>
            <a:ext cx="2776401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Segoe UI" panose="020B0502040204020203" pitchFamily="34" charset="0"/>
              </a:rPr>
              <a:t>DEFINICIÓN DEL PROYECTO · PUNTOS 2 Y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771525"/>
            <a:ext cx="5075492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Trebuchet MS" panose="020B0603020202020204" pitchFamily="34" charset="0"/>
              </a:rPr>
              <a:t>Objetivos General y Específicos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6325" y="3308895"/>
            <a:ext cx="4115246" cy="9026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48"/>
              </a:lnSpc>
            </a:pPr>
            <a:r>
              <a:rPr sz="1275" b="0" i="0" u="none">
                <a:solidFill>
                  <a:srgbClr val="1E293B"/>
                </a:solidFill>
                <a:latin typeface="Segoe UI" panose="020B0502040204020203" pitchFamily="34" charset="0"/>
              </a:rPr>
              <a:t>Desarrollar e implementar un brazo robótico articulado de 6-DOF con transmisión remota por poleas síncronas, garantizando manipulación estable con FS=3 aprovechando motores e inventario existente.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9225" y="2889795"/>
            <a:ext cx="1682961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66534"/>
                </a:solidFill>
                <a:latin typeface="Trebuchet MS" panose="020B0603020202020204" pitchFamily="34" charset="0"/>
              </a:rPr>
              <a:t>Objetivo General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0771" y="2571750"/>
            <a:ext cx="2095125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Trebuchet MS" panose="020B0603020202020204" pitchFamily="34" charset="0"/>
              </a:rPr>
              <a:t>Objetivos Específicos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67871" y="2971800"/>
            <a:ext cx="514305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125" b="1" i="0" u="none">
                <a:solidFill>
                  <a:srgbClr val="334155"/>
                </a:solidFill>
                <a:latin typeface="Segoe UI" panose="020B0502040204020203" pitchFamily="34" charset="0"/>
              </a:rPr>
              <a:t>Cinemática y Torques:</a:t>
            </a:r>
            <a:r>
              <a:rPr sz="1125" b="0" i="0" u="none">
                <a:solidFill>
                  <a:srgbClr val="334155"/>
                </a:solidFill>
                <a:latin typeface="Segoe UI" panose="020B0502040204020203" pitchFamily="34" charset="0"/>
              </a:rPr>
              <a:t> Dimensionar articulaciones considerando peso propio y FS=3.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67871" y="3452812"/>
            <a:ext cx="514305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125" b="1" i="0" u="none">
                <a:solidFill>
                  <a:srgbClr val="334155"/>
                </a:solidFill>
                <a:latin typeface="Segoe UI" panose="020B0502040204020203" pitchFamily="34" charset="0"/>
              </a:rPr>
              <a:t>Transmisión por Poleas:</a:t>
            </a:r>
            <a:r>
              <a:rPr sz="1125" b="0" i="0" u="none">
                <a:solidFill>
                  <a:srgbClr val="334155"/>
                </a:solidFill>
                <a:latin typeface="Segoe UI" panose="020B0502040204020203" pitchFamily="34" charset="0"/>
              </a:rPr>
              <a:t> Reubicar actuadores pesados a la base para minimizar inercia.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67871" y="3933825"/>
            <a:ext cx="5143053" cy="3747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125" b="1" i="0" u="none" dirty="0" err="1">
                <a:solidFill>
                  <a:srgbClr val="334155"/>
                </a:solidFill>
                <a:latin typeface="Segoe UI" panose="020B0502040204020203" pitchFamily="34" charset="0"/>
              </a:rPr>
              <a:t>Selección</a:t>
            </a:r>
            <a:r>
              <a:rPr sz="1125" b="1" i="0" u="none" dirty="0">
                <a:solidFill>
                  <a:srgbClr val="334155"/>
                </a:solidFill>
                <a:latin typeface="Segoe UI" panose="020B0502040204020203" pitchFamily="34" charset="0"/>
              </a:rPr>
              <a:t> de </a:t>
            </a:r>
            <a:r>
              <a:rPr sz="1125" b="1" i="0" u="none" dirty="0" err="1">
                <a:solidFill>
                  <a:srgbClr val="334155"/>
                </a:solidFill>
                <a:latin typeface="Segoe UI" panose="020B0502040204020203" pitchFamily="34" charset="0"/>
              </a:rPr>
              <a:t>Materiales</a:t>
            </a:r>
            <a:r>
              <a:rPr sz="1125" b="1" i="0" u="none" dirty="0">
                <a:solidFill>
                  <a:srgbClr val="334155"/>
                </a:solidFill>
                <a:latin typeface="Segoe UI" panose="020B0502040204020203" pitchFamily="34" charset="0"/>
              </a:rPr>
              <a:t>:</a:t>
            </a:r>
            <a:r>
              <a:rPr sz="1125" b="0" i="0" u="none" dirty="0">
                <a:solidFill>
                  <a:srgbClr val="334155"/>
                </a:solidFill>
                <a:latin typeface="Segoe UI" panose="020B0502040204020203" pitchFamily="34" charset="0"/>
              </a:rPr>
              <a:t> </a:t>
            </a:r>
            <a:r>
              <a:rPr sz="1125" b="0" i="0" u="none" dirty="0" err="1">
                <a:solidFill>
                  <a:srgbClr val="334155"/>
                </a:solidFill>
                <a:latin typeface="Segoe UI" panose="020B0502040204020203" pitchFamily="34" charset="0"/>
              </a:rPr>
              <a:t>Comparar</a:t>
            </a:r>
            <a:r>
              <a:rPr sz="1125" b="0" i="0" u="none" dirty="0">
                <a:solidFill>
                  <a:srgbClr val="334155"/>
                </a:solidFill>
                <a:latin typeface="Segoe UI" panose="020B0502040204020203" pitchFamily="34" charset="0"/>
              </a:rPr>
              <a:t> PETG vs Nylon </a:t>
            </a:r>
            <a:r>
              <a:rPr lang="en-US" sz="1125" b="0" i="0" u="none" dirty="0">
                <a:solidFill>
                  <a:srgbClr val="334155"/>
                </a:solidFill>
                <a:latin typeface="Segoe UI" panose="020B0502040204020203" pitchFamily="34" charset="0"/>
              </a:rPr>
              <a:t>y</a:t>
            </a:r>
            <a:r>
              <a:rPr sz="1125" b="0" i="0" u="none" dirty="0">
                <a:solidFill>
                  <a:srgbClr val="334155"/>
                </a:solidFill>
                <a:latin typeface="Segoe UI" panose="020B0502040204020203" pitchFamily="34" charset="0"/>
              </a:rPr>
              <a:t> </a:t>
            </a:r>
            <a:r>
              <a:rPr lang="en-US" sz="1125" dirty="0" err="1">
                <a:solidFill>
                  <a:srgbClr val="334155"/>
                </a:solidFill>
                <a:latin typeface="Segoe UI" panose="020B0502040204020203" pitchFamily="34" charset="0"/>
              </a:rPr>
              <a:t>opcionalmente</a:t>
            </a:r>
            <a:r>
              <a:rPr sz="1125" b="0" i="0" u="none" dirty="0">
                <a:solidFill>
                  <a:srgbClr val="334155"/>
                </a:solidFill>
                <a:latin typeface="Segoe UI" panose="020B0502040204020203" pitchFamily="34" charset="0"/>
              </a:rPr>
              <a:t> </a:t>
            </a:r>
            <a:r>
              <a:rPr sz="1125" b="0" i="0" u="none" dirty="0" err="1">
                <a:solidFill>
                  <a:srgbClr val="334155"/>
                </a:solidFill>
                <a:latin typeface="Segoe UI" panose="020B0502040204020203" pitchFamily="34" charset="0"/>
              </a:rPr>
              <a:t>refuerzos</a:t>
            </a:r>
            <a:r>
              <a:rPr sz="1125" b="0" i="0" u="none" dirty="0">
                <a:solidFill>
                  <a:srgbClr val="334155"/>
                </a:solidFill>
                <a:latin typeface="Segoe UI" panose="020B0502040204020203" pitchFamily="34" charset="0"/>
              </a:rPr>
              <a:t> de </a:t>
            </a:r>
            <a:r>
              <a:rPr sz="1125" b="0" i="0" u="none" dirty="0" err="1">
                <a:solidFill>
                  <a:srgbClr val="334155"/>
                </a:solidFill>
                <a:latin typeface="Segoe UI" panose="020B0502040204020203" pitchFamily="34" charset="0"/>
              </a:rPr>
              <a:t>aluminio</a:t>
            </a:r>
            <a:r>
              <a:rPr sz="1125" b="0" i="0" u="none" dirty="0">
                <a:solidFill>
                  <a:srgbClr val="334155"/>
                </a:solidFill>
                <a:latin typeface="Segoe UI" panose="020B0502040204020203" pitchFamily="34" charset="0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67871" y="4414837"/>
            <a:ext cx="514305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125" b="1" i="0" u="none">
                <a:solidFill>
                  <a:srgbClr val="334155"/>
                </a:solidFill>
                <a:latin typeface="Segoe UI" panose="020B0502040204020203" pitchFamily="34" charset="0"/>
              </a:rPr>
              <a:t>Seguridad por Software:</a:t>
            </a:r>
            <a:r>
              <a:rPr sz="1125" b="0" i="0" u="none">
                <a:solidFill>
                  <a:srgbClr val="334155"/>
                </a:solidFill>
                <a:latin typeface="Segoe UI" panose="020B0502040204020203" pitchFamily="34" charset="0"/>
              </a:rPr>
              <a:t> Programar límites de carrera digitales y parada de emergencia.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279650" y="2695575"/>
            <a:ext cx="3403550" cy="1981200"/>
          </a:xfrm>
          <a:prstGeom prst="roundRect">
            <a:avLst>
              <a:gd name="adj" fmla="val 576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5911800" y="2695575"/>
            <a:ext cx="3403550" cy="1981200"/>
          </a:xfrm>
          <a:prstGeom prst="roundRect">
            <a:avLst>
              <a:gd name="adj" fmla="val 576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279650" y="2695575"/>
            <a:ext cx="340355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11800" y="2695575"/>
            <a:ext cx="340355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250" y="3028950"/>
            <a:ext cx="2946350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400" y="3028950"/>
            <a:ext cx="2946350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6162675"/>
            <a:ext cx="2816477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Segoe UI" panose="020B0502040204020203" pitchFamily="34" charset="0"/>
              </a:rPr>
              <a:t>Contexto de Interacción Operativa y Académica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533400"/>
            <a:ext cx="2468625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Segoe UI" panose="020B0502040204020203" pitchFamily="34" charset="0"/>
              </a:rPr>
              <a:t>DEFINICIÓN DEL PROYECTO · PUNTO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771525"/>
            <a:ext cx="4924553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Trebuchet MS" panose="020B0603020202020204" pitchFamily="34" charset="0"/>
              </a:rPr>
              <a:t>Usuarios y Actores del Sistema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08250" y="3409950"/>
            <a:ext cx="751039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 err="1">
                <a:solidFill>
                  <a:srgbClr val="0F172A"/>
                </a:solidFill>
                <a:latin typeface="Segoe UI" panose="020B0502040204020203" pitchFamily="34" charset="0"/>
              </a:rPr>
              <a:t>Docente</a:t>
            </a:r>
            <a:endParaRPr sz="1500" b="1" i="0" u="none" dirty="0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508250" y="3752850"/>
            <a:ext cx="2122376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Segoe UI" panose="020B0502040204020203" pitchFamily="34" charset="0"/>
              </a:rPr>
              <a:t>Valida el cumplimiento funcional.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0400" y="3409950"/>
            <a:ext cx="953018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 err="1">
                <a:solidFill>
                  <a:srgbClr val="0F172A"/>
                </a:solidFill>
                <a:latin typeface="Segoe UI" panose="020B0502040204020203" pitchFamily="34" charset="0"/>
              </a:rPr>
              <a:t>Estudiante</a:t>
            </a:r>
            <a:endParaRPr sz="1500" b="1" i="0" u="none" dirty="0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40400" y="3752850"/>
            <a:ext cx="1391407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125" dirty="0" err="1">
                <a:solidFill>
                  <a:srgbClr val="475569"/>
                </a:solidFill>
                <a:latin typeface="Segoe UI" panose="020B0502040204020203" pitchFamily="34" charset="0"/>
              </a:rPr>
              <a:t>Desarrolla</a:t>
            </a:r>
            <a:r>
              <a:rPr lang="en-US" sz="1125" dirty="0">
                <a:solidFill>
                  <a:srgbClr val="475569"/>
                </a:solidFill>
                <a:latin typeface="Segoe UI" panose="020B0502040204020203" pitchFamily="34" charset="0"/>
              </a:rPr>
              <a:t> </a:t>
            </a:r>
            <a:r>
              <a:rPr lang="en-US" sz="1125" dirty="0" err="1">
                <a:solidFill>
                  <a:srgbClr val="475569"/>
                </a:solidFill>
                <a:latin typeface="Segoe UI" panose="020B0502040204020203" pitchFamily="34" charset="0"/>
              </a:rPr>
              <a:t>el</a:t>
            </a:r>
            <a:r>
              <a:rPr lang="en-US" sz="1125" dirty="0">
                <a:solidFill>
                  <a:srgbClr val="475569"/>
                </a:solidFill>
                <a:latin typeface="Segoe UI" panose="020B0502040204020203" pitchFamily="34" charset="0"/>
              </a:rPr>
              <a:t> Proyecto</a:t>
            </a:r>
            <a:endParaRPr lang="es-ES" sz="1125" b="0" i="0" u="none" dirty="0">
              <a:solidFill>
                <a:srgbClr val="475569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340471"/>
            <a:ext cx="5162550" cy="2691407"/>
          </a:xfrm>
          <a:prstGeom prst="roundRect">
            <a:avLst>
              <a:gd name="adj" fmla="val 424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67450" y="2228850"/>
            <a:ext cx="5162550" cy="2914650"/>
          </a:xfrm>
          <a:prstGeom prst="roundRect">
            <a:avLst>
              <a:gd name="adj" fmla="val 39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76325" y="4165103"/>
            <a:ext cx="4533900" cy="552450"/>
          </a:xfrm>
          <a:prstGeom prst="roundRect">
            <a:avLst>
              <a:gd name="adj" fmla="val 10344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2673846"/>
            <a:ext cx="228600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1775" y="2562225"/>
            <a:ext cx="228600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6162675"/>
            <a:ext cx="1695977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Segoe UI" panose="020B0502040204020203" pitchFamily="34" charset="0"/>
              </a:rPr>
              <a:t>Matriz Funcional y Operativa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533400"/>
            <a:ext cx="2736327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Segoe UI" panose="020B0502040204020203" pitchFamily="34" charset="0"/>
              </a:rPr>
              <a:t>REQUISITOS FUNCIONALES · PUNTOS 5 Y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771525"/>
            <a:ext cx="5829929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Trebuchet MS" panose="020B0603020202020204" pitchFamily="34" charset="0"/>
              </a:rPr>
              <a:t>Funciones Principales y Secundarias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" y="3073896"/>
            <a:ext cx="4629150" cy="9026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48"/>
              </a:lnSpc>
            </a:pPr>
            <a:r>
              <a:rPr sz="1275" b="0" i="0" u="none">
                <a:solidFill>
                  <a:srgbClr val="1E293B"/>
                </a:solidFill>
                <a:latin typeface="Segoe UI" panose="020B0502040204020203" pitchFamily="34" charset="0"/>
              </a:rPr>
              <a:t>Manipulación espacial de 6 grados de libertad para tareas de Pick and Place, posicionando cargas útiles de 1.5 kg con capacidad estructural ampliada hacia 5 kg sin salto de pasos ni fatiga.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9225" y="2654796"/>
            <a:ext cx="1714893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Trebuchet MS" panose="020B0603020202020204" pitchFamily="34" charset="0"/>
              </a:rPr>
              <a:t>Función Principal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8725" y="4279403"/>
            <a:ext cx="43243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369A1"/>
                </a:solidFill>
                <a:latin typeface="Segoe UI" panose="020B0502040204020203" pitchFamily="34" charset="0"/>
              </a:rPr>
              <a:t>Interpolación angular coordinada y cinemática inversa en tiempo real.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4675" y="2543175"/>
            <a:ext cx="2237472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Trebuchet MS" panose="020B0603020202020204" pitchFamily="34" charset="0"/>
              </a:rPr>
              <a:t>Funciones Secundarias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1775" y="2943225"/>
            <a:ext cx="462915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125" b="1" i="0" u="none">
                <a:solidFill>
                  <a:srgbClr val="334155"/>
                </a:solidFill>
                <a:latin typeface="Segoe UI" panose="020B0502040204020203" pitchFamily="34" charset="0"/>
              </a:rPr>
              <a:t>Homíng y Calibración:</a:t>
            </a:r>
            <a:r>
              <a:rPr sz="1125" b="0" i="0" u="none">
                <a:solidFill>
                  <a:srgbClr val="334155"/>
                </a:solidFill>
                <a:latin typeface="Segoe UI" panose="020B0502040204020203" pitchFamily="34" charset="0"/>
              </a:rPr>
              <a:t> Secuencia automática para fijar cero de coordenadas.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1775" y="3443287"/>
            <a:ext cx="462915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125" b="1" i="0" u="none">
                <a:solidFill>
                  <a:srgbClr val="334155"/>
                </a:solidFill>
                <a:latin typeface="Segoe UI" panose="020B0502040204020203" pitchFamily="34" charset="0"/>
              </a:rPr>
              <a:t>Límites Virtuales por Software:</a:t>
            </a:r>
            <a:r>
              <a:rPr sz="1125" b="0" i="0" u="none">
                <a:solidFill>
                  <a:srgbClr val="334155"/>
                </a:solidFill>
                <a:latin typeface="Segoe UI" panose="020B0502040204020203" pitchFamily="34" charset="0"/>
              </a:rPr>
              <a:t> Control estricto de envolvente sin topes físicos.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1775" y="3943350"/>
            <a:ext cx="4629150" cy="1812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125" b="1" i="0" u="none">
                <a:solidFill>
                  <a:srgbClr val="334155"/>
                </a:solidFill>
                <a:latin typeface="Segoe UI" panose="020B0502040204020203" pitchFamily="34" charset="0"/>
              </a:rPr>
              <a:t>Parada de Emergencia:</a:t>
            </a:r>
            <a:r>
              <a:rPr sz="1125" b="0" i="0" u="none">
                <a:solidFill>
                  <a:srgbClr val="334155"/>
                </a:solidFill>
                <a:latin typeface="Segoe UI" panose="020B0502040204020203" pitchFamily="34" charset="0"/>
              </a:rPr>
              <a:t> Corte y deshabilitación inmediata por seguridad.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1775" y="4443412"/>
            <a:ext cx="462915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125" b="1" i="0" u="none">
                <a:solidFill>
                  <a:srgbClr val="334155"/>
                </a:solidFill>
                <a:latin typeface="Segoe UI" panose="020B0502040204020203" pitchFamily="34" charset="0"/>
              </a:rPr>
              <a:t>Protección en Poleas:</a:t>
            </a:r>
            <a:r>
              <a:rPr sz="1125" b="0" i="0" u="none">
                <a:solidFill>
                  <a:srgbClr val="334155"/>
                </a:solidFill>
                <a:latin typeface="Segoe UI" panose="020B0502040204020203" pitchFamily="34" charset="0"/>
              </a:rPr>
              <a:t> Cubiertas cerradas para evitar atrapamiento durante el giro.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305050"/>
            <a:ext cx="5181600" cy="2762250"/>
          </a:xfrm>
          <a:prstGeom prst="roundRect">
            <a:avLst>
              <a:gd name="adj" fmla="val 413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305050"/>
            <a:ext cx="5181600" cy="2762250"/>
          </a:xfrm>
          <a:prstGeom prst="roundRect">
            <a:avLst>
              <a:gd name="adj" fmla="val 413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225" y="2600325"/>
            <a:ext cx="190500" cy="19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625" y="2600325"/>
            <a:ext cx="190500" cy="19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6162675"/>
            <a:ext cx="2784417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Segoe UI" panose="020B0502040204020203" pitchFamily="34" charset="0"/>
              </a:rPr>
              <a:t>Balance de Flujos Energéticos y de Información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533400"/>
            <a:ext cx="2736327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Segoe UI" panose="020B0502040204020203" pitchFamily="34" charset="0"/>
              </a:rPr>
              <a:t>REQUISITOS FUNCIONALES · PUNTOS 7 Y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771525"/>
            <a:ext cx="6724983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Trebuchet MS" panose="020B0603020202020204" pitchFamily="34" charset="0"/>
              </a:rPr>
              <a:t>Entradas y Salidas Principales del Sistema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4925" y="2580159"/>
            <a:ext cx="1816716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284C7"/>
                </a:solidFill>
                <a:latin typeface="Segoe UI" panose="020B0502040204020203" pitchFamily="34" charset="0"/>
              </a:rPr>
              <a:t>Entradas Principales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8225" y="2943225"/>
            <a:ext cx="4724400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Segoe UI" panose="020B0502040204020203" pitchFamily="34" charset="0"/>
              </a:rPr>
              <a:t>Energía Eléctrica:</a:t>
            </a:r>
            <a:r>
              <a:rPr sz="1125" b="0" i="0" u="none">
                <a:solidFill>
                  <a:srgbClr val="334155"/>
                </a:solidFill>
                <a:latin typeface="Segoe UI" panose="020B0502040204020203" pitchFamily="34" charset="0"/>
              </a:rPr>
              <a:t> Líneas de 24V y 36V/48V DC para etapa de potencia.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8225" y="3438525"/>
            <a:ext cx="4724400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Segoe UI" panose="020B0502040204020203" pitchFamily="34" charset="0"/>
              </a:rPr>
              <a:t>Consignas de Movimiento:</a:t>
            </a:r>
            <a:r>
              <a:rPr sz="1125" b="0" i="0" u="none">
                <a:solidFill>
                  <a:srgbClr val="334155"/>
                </a:solidFill>
                <a:latin typeface="Segoe UI" panose="020B0502040204020203" pitchFamily="34" charset="0"/>
              </a:rPr>
              <a:t> Pulsos lógicos Step/Dir y comandos de trayectoria.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8225" y="3933825"/>
            <a:ext cx="4724400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Segoe UI" panose="020B0502040204020203" pitchFamily="34" charset="0"/>
              </a:rPr>
              <a:t>Señal de Seguridad:</a:t>
            </a:r>
            <a:r>
              <a:rPr sz="1125" b="0" i="0" u="none">
                <a:solidFill>
                  <a:srgbClr val="334155"/>
                </a:solidFill>
                <a:latin typeface="Segoe UI" panose="020B0502040204020203" pitchFamily="34" charset="0"/>
              </a:rPr>
              <a:t> Interrupción física directa desde seta de paro de emergencia.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4429125"/>
            <a:ext cx="4724400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Segoe UI" panose="020B0502040204020203" pitchFamily="34" charset="0"/>
              </a:rPr>
              <a:t>Carga Externa:</a:t>
            </a:r>
            <a:r>
              <a:rPr sz="1125" b="0" i="0" u="none">
                <a:solidFill>
                  <a:srgbClr val="334155"/>
                </a:solidFill>
                <a:latin typeface="Segoe UI" panose="020B0502040204020203" pitchFamily="34" charset="0"/>
              </a:rPr>
              <a:t> Pieza de manipulación con masa admisible de 1.5 kg a 5 kg.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1325" y="2580159"/>
            <a:ext cx="1661224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egoe UI" panose="020B0502040204020203" pitchFamily="34" charset="0"/>
              </a:rPr>
              <a:t>Salidas Principales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4625" y="2943225"/>
            <a:ext cx="4724400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Segoe UI" panose="020B0502040204020203" pitchFamily="34" charset="0"/>
              </a:rPr>
              <a:t>Movimiento 6-DOF:</a:t>
            </a:r>
            <a:r>
              <a:rPr sz="1125" b="0" i="0" u="none">
                <a:solidFill>
                  <a:srgbClr val="334155"/>
                </a:solidFill>
                <a:latin typeface="Segoe UI" panose="020B0502040204020203" pitchFamily="34" charset="0"/>
              </a:rPr>
              <a:t> Rotación coordinada en las 6 articulaciones del manipulador.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4625" y="3438525"/>
            <a:ext cx="4724400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Segoe UI" panose="020B0502040204020203" pitchFamily="34" charset="0"/>
              </a:rPr>
              <a:t>Par Transmitido:</a:t>
            </a:r>
            <a:r>
              <a:rPr sz="1125" b="0" i="0" u="none">
                <a:solidFill>
                  <a:srgbClr val="334155"/>
                </a:solidFill>
                <a:latin typeface="Segoe UI" panose="020B0502040204020203" pitchFamily="34" charset="0"/>
              </a:rPr>
              <a:t> Torque multiplicado en hombro y codo mediante bandas.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4625" y="3933825"/>
            <a:ext cx="4724400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Segoe UI" panose="020B0502040204020203" pitchFamily="34" charset="0"/>
              </a:rPr>
              <a:t>Telemetría y Estado:</a:t>
            </a:r>
            <a:r>
              <a:rPr sz="1125" b="0" i="0" u="none">
                <a:solidFill>
                  <a:srgbClr val="334155"/>
                </a:solidFill>
                <a:latin typeface="Segoe UI" panose="020B0502040204020203" pitchFamily="34" charset="0"/>
              </a:rPr>
              <a:t> Posición angular estimada y validación de software.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4625" y="4429125"/>
            <a:ext cx="4724400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Segoe UI" panose="020B0502040204020203" pitchFamily="34" charset="0"/>
              </a:rPr>
              <a:t>Disipación Térmica:</a:t>
            </a:r>
            <a:r>
              <a:rPr sz="1125" b="0" i="0" u="none">
                <a:solidFill>
                  <a:srgbClr val="334155"/>
                </a:solidFill>
                <a:latin typeface="Segoe UI" panose="020B0502040204020203" pitchFamily="34" charset="0"/>
              </a:rPr>
              <a:t> Calor disipado en controladores fijados a la base.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381250"/>
            <a:ext cx="5162550" cy="2581275"/>
          </a:xfrm>
          <a:prstGeom prst="roundRect">
            <a:avLst>
              <a:gd name="adj" fmla="val 4428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67450" y="2114550"/>
            <a:ext cx="5162550" cy="3114675"/>
          </a:xfrm>
          <a:prstGeom prst="roundRect">
            <a:avLst>
              <a:gd name="adj" fmla="val 366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" y="2676525"/>
            <a:ext cx="190500" cy="1905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9894406"/>
              </p:ext>
            </p:extLst>
          </p:nvPr>
        </p:nvGraphicFramePr>
        <p:xfrm>
          <a:off x="6543675" y="2752725"/>
          <a:ext cx="4610098" cy="1914525"/>
        </p:xfrm>
        <a:graphic>
          <a:graphicData uri="http://schemas.openxmlformats.org/drawingml/2006/table">
            <a:tbl>
              <a:tblPr/>
              <a:tblGrid>
                <a:gridCol w="1404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25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26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99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290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Articulación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Torque Nominal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DC2626"/>
                          </a:solidFill>
                          <a:latin typeface="Segoe UI" panose="020B0502040204020203" pitchFamily="34" charset="0"/>
                        </a:rPr>
                        <a:t>Torque con FS=3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Diagnóstico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Segoe UI" panose="020B0502040204020203" pitchFamily="34" charset="0"/>
                        </a:rPr>
                        <a:t>Joint 2 (Hombro)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Segoe UI" panose="020B0502040204020203" pitchFamily="34" charset="0"/>
                        </a:rPr>
                        <a:t>~</a:t>
                      </a:r>
                      <a:r>
                        <a:rPr lang="en-US" sz="1050" b="0" i="0" u="none" dirty="0">
                          <a:solidFill>
                            <a:srgbClr val="334155"/>
                          </a:solidFill>
                          <a:latin typeface="Segoe UI" panose="020B0502040204020203" pitchFamily="34" charset="0"/>
                        </a:rPr>
                        <a:t>30</a:t>
                      </a:r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Segoe UI" panose="020B0502040204020203" pitchFamily="34" charset="0"/>
                        </a:rPr>
                        <a:t>.</a:t>
                      </a:r>
                      <a:r>
                        <a:rPr lang="en-US" sz="1050" b="0" i="0" u="none" dirty="0">
                          <a:solidFill>
                            <a:srgbClr val="334155"/>
                          </a:solidFill>
                          <a:latin typeface="Segoe UI" panose="020B0502040204020203" pitchFamily="34" charset="0"/>
                        </a:rPr>
                        <a:t>2</a:t>
                      </a:r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Segoe UI" panose="020B0502040204020203" pitchFamily="34" charset="0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334155"/>
                          </a:solidFill>
                          <a:latin typeface="Segoe UI" panose="020B0502040204020203" pitchFamily="34" charset="0"/>
                        </a:rPr>
                        <a:t>N·m</a:t>
                      </a:r>
                      <a:endParaRPr sz="1050" b="0" i="0" u="none" dirty="0">
                        <a:solidFill>
                          <a:srgbClr val="334155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1" i="0" u="none" dirty="0">
                          <a:solidFill>
                            <a:srgbClr val="DC2626"/>
                          </a:solidFill>
                          <a:latin typeface="Segoe UI" panose="020B0502040204020203" pitchFamily="34" charset="0"/>
                        </a:rPr>
                        <a:t>90</a:t>
                      </a:r>
                      <a:r>
                        <a:rPr sz="1050" b="1" i="0" u="none" dirty="0">
                          <a:solidFill>
                            <a:srgbClr val="DC2626"/>
                          </a:solidFill>
                          <a:latin typeface="Segoe UI" panose="020B0502040204020203" pitchFamily="34" charset="0"/>
                        </a:rPr>
                        <a:t>.</a:t>
                      </a:r>
                      <a:r>
                        <a:rPr lang="en-US" sz="1050" b="1" i="0" u="none" dirty="0">
                          <a:solidFill>
                            <a:srgbClr val="DC2626"/>
                          </a:solidFill>
                          <a:latin typeface="Segoe UI" panose="020B0502040204020203" pitchFamily="34" charset="0"/>
                        </a:rPr>
                        <a:t>6</a:t>
                      </a:r>
                      <a:r>
                        <a:rPr sz="1050" b="1" i="0" u="none" dirty="0">
                          <a:solidFill>
                            <a:srgbClr val="DC2626"/>
                          </a:solidFill>
                          <a:latin typeface="Segoe UI" panose="020B0502040204020203" pitchFamily="34" charset="0"/>
                        </a:rPr>
                        <a:t> </a:t>
                      </a:r>
                      <a:r>
                        <a:rPr sz="1050" b="1" i="0" u="none" dirty="0" err="1">
                          <a:solidFill>
                            <a:srgbClr val="DC2626"/>
                          </a:solidFill>
                          <a:latin typeface="Segoe UI" panose="020B0502040204020203" pitchFamily="34" charset="0"/>
                        </a:rPr>
                        <a:t>N·m</a:t>
                      </a:r>
                      <a:endParaRPr sz="1050" b="1" i="0" u="none" dirty="0">
                        <a:solidFill>
                          <a:srgbClr val="DC2626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DC2626"/>
                          </a:solidFill>
                          <a:latin typeface="Segoe UI" panose="020B0502040204020203" pitchFamily="34" charset="0"/>
                        </a:rPr>
                        <a:t>Colapso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Segoe UI" panose="020B0502040204020203" pitchFamily="34" charset="0"/>
                        </a:rPr>
                        <a:t>Joint 3 (Codo)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Segoe UI" panose="020B0502040204020203" pitchFamily="34" charset="0"/>
                        </a:rPr>
                        <a:t>~10.4 N·m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DC2626"/>
                          </a:solidFill>
                          <a:latin typeface="Segoe UI" panose="020B0502040204020203" pitchFamily="34" charset="0"/>
                        </a:rPr>
                        <a:t>31.3 N·m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DC2626"/>
                          </a:solidFill>
                          <a:latin typeface="Segoe UI" panose="020B0502040204020203" pitchFamily="34" charset="0"/>
                        </a:rPr>
                        <a:t>Excede motor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Segoe UI" panose="020B0502040204020203" pitchFamily="34" charset="0"/>
                        </a:rPr>
                        <a:t>Joint 4 y 5 (Muñeca)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Segoe UI" panose="020B0502040204020203" pitchFamily="34" charset="0"/>
                        </a:rPr>
                        <a:t>~2.96 N·m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D97706"/>
                          </a:solidFill>
                          <a:latin typeface="Segoe UI" panose="020B0502040204020203" pitchFamily="34" charset="0"/>
                        </a:rPr>
                        <a:t>8.9 N·m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D97706"/>
                          </a:solidFill>
                          <a:latin typeface="Segoe UI" panose="020B0502040204020203" pitchFamily="34" charset="0"/>
                        </a:rPr>
                        <a:t>Al límite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Segoe UI" panose="020B0502040204020203" pitchFamily="34" charset="0"/>
                        </a:rPr>
                        <a:t>Joint 1 (Base)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Segoe UI" panose="020B0502040204020203" pitchFamily="34" charset="0"/>
                        </a:rPr>
                        <a:t>~5.0 N·m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6A34A"/>
                          </a:solidFill>
                          <a:latin typeface="Segoe UI" panose="020B0502040204020203" pitchFamily="34" charset="0"/>
                        </a:rPr>
                        <a:t>15.0 N·m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 err="1">
                          <a:solidFill>
                            <a:srgbClr val="16A34A"/>
                          </a:solidFill>
                          <a:latin typeface="Segoe UI" panose="020B0502040204020203" pitchFamily="34" charset="0"/>
                        </a:rPr>
                        <a:t>Cumple</a:t>
                      </a:r>
                      <a:endParaRPr sz="1050" b="0" i="0" u="none" dirty="0">
                        <a:solidFill>
                          <a:srgbClr val="16A34A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2000" y="6162675"/>
            <a:ext cx="5238614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Segoe UI" panose="020B0502040204020203" pitchFamily="34" charset="0"/>
              </a:rPr>
              <a:t>Conclusión: Los motores colgados obligan a actuadores industriales de costo prohibitivo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533400"/>
            <a:ext cx="4451540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Segoe UI" panose="020B0502040204020203" pitchFamily="34" charset="0"/>
              </a:rPr>
              <a:t>EVOLUCIÓN TÉCNICA · POR QUÉ DESCARTAMOS MOTORES DIRECTOS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771525"/>
            <a:ext cx="7572907" cy="392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Trebuchet MS" panose="020B0603020202020204" pitchFamily="34" charset="0"/>
              </a:rPr>
              <a:t>Fallo Físico de Motores Directos en Articulaciones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4925" y="2656359"/>
            <a:ext cx="2991203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991B1B"/>
                </a:solidFill>
                <a:latin typeface="Segoe UI" panose="020B0502040204020203" pitchFamily="34" charset="0"/>
              </a:rPr>
              <a:t>Masa Parásita y Brazo de Palanca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8225" y="3019425"/>
            <a:ext cx="47053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334155"/>
                </a:solidFill>
                <a:latin typeface="Segoe UI" panose="020B0502040204020203" pitchFamily="34" charset="0"/>
              </a:rPr>
              <a:t>Colocar un motor en cada eje añade entre 1.5 kg y 3.5 kg de masa inerte a lo largo de los eslabones móviles.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8225" y="3552825"/>
            <a:ext cx="4705350" cy="3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7F1D1D"/>
                </a:solidFill>
                <a:latin typeface="Segoe UI" panose="020B0502040204020203" pitchFamily="34" charset="0"/>
              </a:rPr>
              <a:t>Efecto acumulativo:</a:t>
            </a:r>
            <a:r>
              <a:rPr sz="1125" b="0" i="0" u="none">
                <a:solidFill>
                  <a:srgbClr val="7F1D1D"/>
                </a:solidFill>
                <a:latin typeface="Segoe UI" panose="020B0502040204020203" pitchFamily="34" charset="0"/>
              </a:rPr>
              <a:t> El motor del hombro gastaba el 70% de su torque disponible únicamente en levantar a los otros motores colgados del brazo.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8225" y="4286250"/>
            <a:ext cx="47053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 dirty="0" err="1">
                <a:solidFill>
                  <a:srgbClr val="7F1D1D"/>
                </a:solidFill>
                <a:latin typeface="Segoe UI" panose="020B0502040204020203" pitchFamily="34" charset="0"/>
              </a:rPr>
              <a:t>Cálculo</a:t>
            </a:r>
            <a:r>
              <a:rPr sz="1125" b="1" i="0" u="none" dirty="0">
                <a:solidFill>
                  <a:srgbClr val="7F1D1D"/>
                </a:solidFill>
                <a:latin typeface="Segoe UI" panose="020B0502040204020203" pitchFamily="34" charset="0"/>
              </a:rPr>
              <a:t> con FS=3:</a:t>
            </a:r>
            <a:r>
              <a:rPr sz="1125" b="0" i="0" u="none" dirty="0">
                <a:solidFill>
                  <a:srgbClr val="7F1D1D"/>
                </a:solidFill>
                <a:latin typeface="Segoe UI" panose="020B0502040204020203" pitchFamily="34" charset="0"/>
              </a:rPr>
              <a:t> La </a:t>
            </a:r>
            <a:r>
              <a:rPr sz="1125" b="0" i="0" u="none" dirty="0" err="1">
                <a:solidFill>
                  <a:srgbClr val="7F1D1D"/>
                </a:solidFill>
                <a:latin typeface="Segoe UI" panose="020B0502040204020203" pitchFamily="34" charset="0"/>
              </a:rPr>
              <a:t>demanda</a:t>
            </a:r>
            <a:r>
              <a:rPr sz="1125" b="0" i="0" u="none" dirty="0">
                <a:solidFill>
                  <a:srgbClr val="7F1D1D"/>
                </a:solidFill>
                <a:latin typeface="Segoe UI" panose="020B0502040204020203" pitchFamily="34" charset="0"/>
              </a:rPr>
              <a:t> </a:t>
            </a:r>
            <a:r>
              <a:rPr sz="1125" b="0" i="0" u="none" dirty="0" err="1">
                <a:solidFill>
                  <a:srgbClr val="7F1D1D"/>
                </a:solidFill>
                <a:latin typeface="Segoe UI" panose="020B0502040204020203" pitchFamily="34" charset="0"/>
              </a:rPr>
              <a:t>en</a:t>
            </a:r>
            <a:r>
              <a:rPr sz="1125" b="0" i="0" u="none" dirty="0">
                <a:solidFill>
                  <a:srgbClr val="7F1D1D"/>
                </a:solidFill>
                <a:latin typeface="Segoe UI" panose="020B0502040204020203" pitchFamily="34" charset="0"/>
              </a:rPr>
              <a:t> </a:t>
            </a:r>
            <a:r>
              <a:rPr sz="1125" b="0" i="0" u="none" dirty="0" err="1">
                <a:solidFill>
                  <a:srgbClr val="7F1D1D"/>
                </a:solidFill>
                <a:latin typeface="Segoe UI" panose="020B0502040204020203" pitchFamily="34" charset="0"/>
              </a:rPr>
              <a:t>el</a:t>
            </a:r>
            <a:r>
              <a:rPr sz="1125" b="0" i="0" u="none" dirty="0">
                <a:solidFill>
                  <a:srgbClr val="7F1D1D"/>
                </a:solidFill>
                <a:latin typeface="Segoe UI" panose="020B0502040204020203" pitchFamily="34" charset="0"/>
              </a:rPr>
              <a:t> </a:t>
            </a:r>
            <a:r>
              <a:rPr sz="1125" b="0" i="0" u="none" dirty="0" err="1">
                <a:solidFill>
                  <a:srgbClr val="7F1D1D"/>
                </a:solidFill>
                <a:latin typeface="Segoe UI" panose="020B0502040204020203" pitchFamily="34" charset="0"/>
              </a:rPr>
              <a:t>hombro</a:t>
            </a:r>
            <a:r>
              <a:rPr sz="1125" b="0" i="0" u="none" dirty="0">
                <a:solidFill>
                  <a:srgbClr val="7F1D1D"/>
                </a:solidFill>
                <a:latin typeface="Segoe UI" panose="020B0502040204020203" pitchFamily="34" charset="0"/>
              </a:rPr>
              <a:t> </a:t>
            </a:r>
            <a:r>
              <a:rPr sz="1125" b="0" i="0" u="none" dirty="0" err="1">
                <a:solidFill>
                  <a:srgbClr val="7F1D1D"/>
                </a:solidFill>
                <a:latin typeface="Segoe UI" panose="020B0502040204020203" pitchFamily="34" charset="0"/>
              </a:rPr>
              <a:t>superaba</a:t>
            </a:r>
            <a:r>
              <a:rPr sz="1125" b="0" i="0" u="none" dirty="0">
                <a:solidFill>
                  <a:srgbClr val="7F1D1D"/>
                </a:solidFill>
                <a:latin typeface="Segoe UI" panose="020B0502040204020203" pitchFamily="34" charset="0"/>
              </a:rPr>
              <a:t> </a:t>
            </a:r>
            <a:r>
              <a:rPr sz="1125" b="0" i="0" u="none" dirty="0" err="1">
                <a:solidFill>
                  <a:srgbClr val="7F1D1D"/>
                </a:solidFill>
                <a:latin typeface="Segoe UI" panose="020B0502040204020203" pitchFamily="34" charset="0"/>
              </a:rPr>
              <a:t>los</a:t>
            </a:r>
            <a:r>
              <a:rPr sz="1125" b="0" i="0" u="none" dirty="0">
                <a:solidFill>
                  <a:srgbClr val="7F1D1D"/>
                </a:solidFill>
                <a:latin typeface="Segoe UI" panose="020B0502040204020203" pitchFamily="34" charset="0"/>
              </a:rPr>
              <a:t> </a:t>
            </a:r>
            <a:r>
              <a:rPr lang="en-US" sz="1125" b="0" i="0" u="none" dirty="0">
                <a:solidFill>
                  <a:srgbClr val="7F1D1D"/>
                </a:solidFill>
                <a:latin typeface="Segoe UI" panose="020B0502040204020203" pitchFamily="34" charset="0"/>
              </a:rPr>
              <a:t>8</a:t>
            </a:r>
            <a:r>
              <a:rPr sz="1125" b="0" i="0" u="none" dirty="0">
                <a:solidFill>
                  <a:srgbClr val="7F1D1D"/>
                </a:solidFill>
                <a:latin typeface="Segoe UI" panose="020B0502040204020203" pitchFamily="34" charset="0"/>
              </a:rPr>
              <a:t>0 </a:t>
            </a:r>
            <a:r>
              <a:rPr sz="1125" b="0" i="0" u="none" dirty="0" err="1">
                <a:solidFill>
                  <a:srgbClr val="7F1D1D"/>
                </a:solidFill>
                <a:latin typeface="Segoe UI" panose="020B0502040204020203" pitchFamily="34" charset="0"/>
              </a:rPr>
              <a:t>N·m</a:t>
            </a:r>
            <a:r>
              <a:rPr sz="1125" b="0" i="0" u="none" dirty="0">
                <a:solidFill>
                  <a:srgbClr val="7F1D1D"/>
                </a:solidFill>
                <a:latin typeface="Segoe UI" panose="020B0502040204020203" pitchFamily="34" charset="0"/>
              </a:rPr>
              <a:t> a </a:t>
            </a:r>
            <a:r>
              <a:rPr lang="en-US" sz="1125" b="0" i="0" u="none" dirty="0">
                <a:solidFill>
                  <a:srgbClr val="7F1D1D"/>
                </a:solidFill>
                <a:latin typeface="Segoe UI" panose="020B0502040204020203" pitchFamily="34" charset="0"/>
              </a:rPr>
              <a:t>10</a:t>
            </a:r>
            <a:r>
              <a:rPr sz="1125" b="0" i="0" u="none" dirty="0">
                <a:solidFill>
                  <a:srgbClr val="7F1D1D"/>
                </a:solidFill>
                <a:latin typeface="Segoe UI" panose="020B0502040204020203" pitchFamily="34" charset="0"/>
              </a:rPr>
              <a:t>0 </a:t>
            </a:r>
            <a:r>
              <a:rPr sz="1125" b="0" i="0" u="none" dirty="0" err="1">
                <a:solidFill>
                  <a:srgbClr val="7F1D1D"/>
                </a:solidFill>
                <a:latin typeface="Segoe UI" panose="020B0502040204020203" pitchFamily="34" charset="0"/>
              </a:rPr>
              <a:t>N·m</a:t>
            </a:r>
            <a:r>
              <a:rPr sz="1125" b="0" i="0" u="none" dirty="0">
                <a:solidFill>
                  <a:srgbClr val="7F1D1D"/>
                </a:solidFill>
                <a:latin typeface="Segoe UI" panose="020B0502040204020203" pitchFamily="34" charset="0"/>
              </a:rPr>
              <a:t>, </a:t>
            </a:r>
            <a:r>
              <a:rPr sz="1125" b="0" i="0" u="none" dirty="0" err="1">
                <a:solidFill>
                  <a:srgbClr val="7F1D1D"/>
                </a:solidFill>
                <a:latin typeface="Segoe UI" panose="020B0502040204020203" pitchFamily="34" charset="0"/>
              </a:rPr>
              <a:t>haciendo</a:t>
            </a:r>
            <a:r>
              <a:rPr sz="1125" b="0" i="0" u="none" dirty="0">
                <a:solidFill>
                  <a:srgbClr val="7F1D1D"/>
                </a:solidFill>
                <a:latin typeface="Segoe UI" panose="020B0502040204020203" pitchFamily="34" charset="0"/>
              </a:rPr>
              <a:t> inviable </a:t>
            </a:r>
            <a:r>
              <a:rPr sz="1125" b="0" i="0" u="none" dirty="0" err="1">
                <a:solidFill>
                  <a:srgbClr val="7F1D1D"/>
                </a:solidFill>
                <a:latin typeface="Segoe UI" panose="020B0502040204020203" pitchFamily="34" charset="0"/>
              </a:rPr>
              <a:t>cualquier</a:t>
            </a:r>
            <a:r>
              <a:rPr sz="1125" b="0" i="0" u="none" dirty="0">
                <a:solidFill>
                  <a:srgbClr val="7F1D1D"/>
                </a:solidFill>
                <a:latin typeface="Segoe UI" panose="020B0502040204020203" pitchFamily="34" charset="0"/>
              </a:rPr>
              <a:t> </a:t>
            </a:r>
            <a:r>
              <a:rPr sz="1125" b="0" i="0" u="none" dirty="0" err="1">
                <a:solidFill>
                  <a:srgbClr val="7F1D1D"/>
                </a:solidFill>
                <a:latin typeface="Segoe UI" panose="020B0502040204020203" pitchFamily="34" charset="0"/>
              </a:rPr>
              <a:t>actuador</a:t>
            </a:r>
            <a:r>
              <a:rPr sz="1125" b="0" i="0" u="none" dirty="0">
                <a:solidFill>
                  <a:srgbClr val="7F1D1D"/>
                </a:solidFill>
                <a:latin typeface="Segoe UI" panose="020B0502040204020203" pitchFamily="34" charset="0"/>
              </a:rPr>
              <a:t> </a:t>
            </a:r>
            <a:r>
              <a:rPr sz="1125" b="0" i="0" u="none" dirty="0" err="1">
                <a:solidFill>
                  <a:srgbClr val="7F1D1D"/>
                </a:solidFill>
                <a:latin typeface="Segoe UI" panose="020B0502040204020203" pitchFamily="34" charset="0"/>
              </a:rPr>
              <a:t>económico</a:t>
            </a:r>
            <a:r>
              <a:rPr sz="1125" b="0" i="0" u="none" dirty="0">
                <a:solidFill>
                  <a:srgbClr val="7F1D1D"/>
                </a:solidFill>
                <a:latin typeface="Segoe UI" panose="020B0502040204020203" pitchFamily="34" charset="0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3675" y="2390775"/>
            <a:ext cx="4236031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egoe UI" panose="020B0502040204020203" pitchFamily="34" charset="0"/>
              </a:rPr>
              <a:t>Cálculo Original de Torque (Motores Colgados)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3675" y="4800600"/>
            <a:ext cx="3965829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Segoe UI" panose="020B0502040204020203" pitchFamily="34" charset="0"/>
              </a:rPr>
              <a:t>El peso propio del brazo alcanzaba 4.5 kg solo en motores suspendidos.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481262"/>
            <a:ext cx="5162550" cy="2381250"/>
          </a:xfrm>
          <a:prstGeom prst="roundRect">
            <a:avLst>
              <a:gd name="adj" fmla="val 480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67450" y="2033587"/>
            <a:ext cx="5162550" cy="3276600"/>
          </a:xfrm>
          <a:prstGeom prst="roundRect">
            <a:avLst>
              <a:gd name="adj" fmla="val 348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" y="2776537"/>
            <a:ext cx="190500" cy="1905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43675" y="2671762"/>
          <a:ext cx="4610099" cy="2076450"/>
        </p:xfrm>
        <a:graphic>
          <a:graphicData uri="http://schemas.openxmlformats.org/drawingml/2006/table">
            <a:tbl>
              <a:tblPr/>
              <a:tblGrid>
                <a:gridCol w="12723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11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81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8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529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Articulación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DC2626"/>
                          </a:solidFill>
                          <a:latin typeface="Segoe UI" panose="020B0502040204020203" pitchFamily="34" charset="0"/>
                        </a:rPr>
                        <a:t>Antes (Directo)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6A34A"/>
                          </a:solidFill>
                          <a:latin typeface="Segoe UI" panose="020B0502040204020203" pitchFamily="34" charset="0"/>
                        </a:rPr>
                        <a:t>Con Bandas (FS=3)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284C7"/>
                          </a:solidFill>
                          <a:latin typeface="Segoe UI" panose="020B0502040204020203" pitchFamily="34" charset="0"/>
                        </a:rPr>
                        <a:t>Configuración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29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Segoe UI" panose="020B0502040204020203" pitchFamily="34" charset="0"/>
                        </a:rPr>
                        <a:t>Joint 1 (Base)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Segoe UI" panose="020B0502040204020203" pitchFamily="34" charset="0"/>
                        </a:rPr>
                        <a:t>15.0 N·m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6A34A"/>
                          </a:solidFill>
                          <a:latin typeface="Segoe UI" panose="020B0502040204020203" pitchFamily="34" charset="0"/>
                        </a:rPr>
                        <a:t>~9.0 N·m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Segoe UI" panose="020B0502040204020203" pitchFamily="34" charset="0"/>
                        </a:rPr>
                        <a:t>Reductor 10:1 + 2.5:1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29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Segoe UI" panose="020B0502040204020203" pitchFamily="34" charset="0"/>
                        </a:rPr>
                        <a:t>Joint 2 (Hombro)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Segoe UI" panose="020B0502040204020203" pitchFamily="34" charset="0"/>
                        </a:rPr>
                        <a:t>59.5 N·m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6A34A"/>
                          </a:solidFill>
                          <a:latin typeface="Segoe UI" panose="020B0502040204020203" pitchFamily="34" charset="0"/>
                        </a:rPr>
                        <a:t>46.4 N·m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Segoe UI" panose="020B0502040204020203" pitchFamily="34" charset="0"/>
                        </a:rPr>
                        <a:t>NEMA 34 + Poleas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29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Segoe UI" panose="020B0502040204020203" pitchFamily="34" charset="0"/>
                        </a:rPr>
                        <a:t>Joint 3 (Codo)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Segoe UI" panose="020B0502040204020203" pitchFamily="34" charset="0"/>
                        </a:rPr>
                        <a:t>31.3 N·m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6A34A"/>
                          </a:solidFill>
                          <a:latin typeface="Segoe UI" panose="020B0502040204020203" pitchFamily="34" charset="0"/>
                        </a:rPr>
                        <a:t>25.9 N·m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Segoe UI" panose="020B0502040204020203" pitchFamily="34" charset="0"/>
                        </a:rPr>
                        <a:t>Reductor 10:1 + 6.7:1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29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Segoe UI" panose="020B0502040204020203" pitchFamily="34" charset="0"/>
                        </a:rPr>
                        <a:t>Joint 4 y 5 (Muñeca)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Segoe UI" panose="020B0502040204020203" pitchFamily="34" charset="0"/>
                        </a:rPr>
                        <a:t>8.9 N·m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6A34A"/>
                          </a:solidFill>
                          <a:latin typeface="Segoe UI" panose="020B0502040204020203" pitchFamily="34" charset="0"/>
                        </a:rPr>
                        <a:t>8.3 N·m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Segoe UI" panose="020B0502040204020203" pitchFamily="34" charset="0"/>
                        </a:rPr>
                        <a:t>Reductor 10:1 + 2.2:1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2000" y="6162675"/>
            <a:ext cx="3502562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Segoe UI" panose="020B0502040204020203" pitchFamily="34" charset="0"/>
              </a:rPr>
              <a:t>Validación Teórica de la Transmisión Síncrona Desacoplada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533400"/>
            <a:ext cx="3771866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A34A"/>
                </a:solidFill>
                <a:latin typeface="Segoe UI" panose="020B0502040204020203" pitchFamily="34" charset="0"/>
              </a:rPr>
              <a:t>EVOLUCIÓN TÉCNICA · TRANSICIÓN A POLEAS SÍNCRONAS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771525"/>
            <a:ext cx="7445949" cy="392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Trebuchet MS" panose="020B0603020202020204" pitchFamily="34" charset="0"/>
              </a:rPr>
              <a:t>Recálculo Dinámico: Motores en Base por Bandas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4925" y="2756371"/>
            <a:ext cx="3095399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166534"/>
                </a:solidFill>
                <a:latin typeface="Segoe UI" panose="020B0502040204020203" pitchFamily="34" charset="0"/>
              </a:rPr>
              <a:t>Reducción Drástica de Masa Móvil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8225" y="3119437"/>
            <a:ext cx="47053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334155"/>
                </a:solidFill>
                <a:latin typeface="Segoe UI" panose="020B0502040204020203" pitchFamily="34" charset="0"/>
              </a:rPr>
              <a:t>Al relocalizar los motores a la base, los eslabones móviles pasan a pesar solo ~1.2 kg de estructura hueca.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8225" y="3652837"/>
            <a:ext cx="47053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14532D"/>
                </a:solidFill>
                <a:latin typeface="Segoe UI" panose="020B0502040204020203" pitchFamily="34" charset="0"/>
              </a:rPr>
              <a:t>Torque en Hombro reducido:</a:t>
            </a:r>
            <a:r>
              <a:rPr sz="1125" b="0" i="0" u="none">
                <a:solidFill>
                  <a:srgbClr val="14532D"/>
                </a:solidFill>
                <a:latin typeface="Segoe UI" panose="020B0502040204020203" pitchFamily="34" charset="0"/>
              </a:rPr>
              <a:t> De 59.5 N·m a 46.4 N·m con FS=3 (ahorro neto superior al 25% en torque).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8225" y="4186237"/>
            <a:ext cx="47053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14532D"/>
                </a:solidFill>
                <a:latin typeface="Segoe UI" panose="020B0502040204020203" pitchFamily="34" charset="0"/>
              </a:rPr>
              <a:t>Multiplicación por poleas:</a:t>
            </a:r>
            <a:r>
              <a:rPr sz="1125" b="0" i="0" u="none">
                <a:solidFill>
                  <a:srgbClr val="14532D"/>
                </a:solidFill>
                <a:latin typeface="Segoe UI" panose="020B0502040204020203" pitchFamily="34" charset="0"/>
              </a:rPr>
              <a:t> Permite relaciones de 2.5:1 a 6.7:1 combinando los reductores 10:1 en inventario.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3675" y="2309812"/>
            <a:ext cx="4126322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egoe UI" panose="020B0502040204020203" pitchFamily="34" charset="0"/>
              </a:rPr>
              <a:t>Comparativa de Torques con Motores en 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3675" y="4881562"/>
            <a:ext cx="3874459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Segoe UI" panose="020B0502040204020203" pitchFamily="34" charset="0"/>
              </a:rPr>
              <a:t>Joint 4 y 5 comparten torque por geometría esférica y peor caso a 90°.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1722387"/>
            <a:ext cx="5162550" cy="1198066"/>
          </a:xfrm>
          <a:prstGeom prst="roundRect">
            <a:avLst>
              <a:gd name="adj" fmla="val 318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3072854"/>
            <a:ext cx="5162550" cy="1198066"/>
          </a:xfrm>
          <a:prstGeom prst="roundRect">
            <a:avLst>
              <a:gd name="adj" fmla="val 318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4423320"/>
            <a:ext cx="5162550" cy="1198066"/>
          </a:xfrm>
          <a:prstGeom prst="roundRect">
            <a:avLst>
              <a:gd name="adj" fmla="val 318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62000" y="1722387"/>
            <a:ext cx="38100" cy="119806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62000" y="3072854"/>
            <a:ext cx="38100" cy="119806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2000" y="4423320"/>
            <a:ext cx="38100" cy="119806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450" y="1862137"/>
            <a:ext cx="5162550" cy="3619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1862137"/>
            <a:ext cx="5162550" cy="3619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6162675"/>
            <a:ext cx="3629199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Segoe UI" panose="020B0502040204020203" pitchFamily="34" charset="0"/>
              </a:rPr>
              <a:t>Esquema Cinemático de Ejes y Poleas Locas en Articulaciones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533400"/>
            <a:ext cx="3726982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Segoe UI" panose="020B0502040204020203" pitchFamily="34" charset="0"/>
              </a:rPr>
              <a:t>DESARROLLO DE TRANSMISIÓN · CINEMÁTICA DE POLEAS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771525"/>
            <a:ext cx="5604098" cy="392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Trebuchet MS" panose="020B0603020202020204" pitchFamily="34" charset="0"/>
              </a:rPr>
              <a:t>Ejes Coincidentes y Ruteo de Bandas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600" y="1912887"/>
            <a:ext cx="3242170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egoe UI" panose="020B0502040204020203" pitchFamily="34" charset="0"/>
              </a:rPr>
              <a:t>Principio de Distancia Fija entre Centros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600" y="2170062"/>
            <a:ext cx="4838700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Segoe UI" panose="020B0502040204020203" pitchFamily="34" charset="0"/>
              </a:rPr>
              <a:t>Una sola banda continua no puede cruzar una articulación si el ángulo varía. El eje de pivote de cada articulación aloja poleas dobles locas con rodamientos independientes.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600" y="3263354"/>
            <a:ext cx="3085781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egoe UI" panose="020B0502040204020203" pitchFamily="34" charset="0"/>
              </a:rPr>
              <a:t>Multiplicación en la Base vs Eslabones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0600" y="3520529"/>
            <a:ext cx="4838700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Segoe UI" panose="020B0502040204020203" pitchFamily="34" charset="0"/>
              </a:rPr>
              <a:t>La reducción de par se realiza con poleas grandes en la base o codo, y viaja hacia los eslabones superiores con poleas gemelas ligeras (20T a 20T) para no ensanchar la muñeca.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0600" y="4613820"/>
            <a:ext cx="2958439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egoe UI" panose="020B0502040204020203" pitchFamily="34" charset="0"/>
              </a:rPr>
              <a:t>Ubicación de Actuadores de Muñeca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" y="4870995"/>
            <a:ext cx="4838700" cy="367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Segoe UI" panose="020B0502040204020203" pitchFamily="34" charset="0"/>
              </a:rPr>
              <a:t>Los NEMA 17 de muñeca se montan tras el codo como contrapeso dinámico, permitiendo tramos rectos de banda hacia la muñeca sin torsión axial.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333625"/>
            <a:ext cx="5162550" cy="2705100"/>
          </a:xfrm>
          <a:prstGeom prst="roundRect">
            <a:avLst>
              <a:gd name="adj" fmla="val 422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67450" y="2238375"/>
            <a:ext cx="5162550" cy="2895600"/>
          </a:xfrm>
          <a:prstGeom prst="roundRect">
            <a:avLst>
              <a:gd name="adj" fmla="val 39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62000" y="6162675"/>
            <a:ext cx="3000821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Segoe UI" panose="020B0502040204020203" pitchFamily="34" charset="0"/>
              </a:rPr>
              <a:t>Parámetros de Masa Inerte vs. Momento Dinámico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33400"/>
            <a:ext cx="2832507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Segoe UI" panose="020B0502040204020203" pitchFamily="34" charset="0"/>
              </a:rPr>
              <a:t>RESTRICCIONES DE DISEÑO · PUNTOS 9 Y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71525"/>
            <a:ext cx="6245299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Trebuchet MS" panose="020B0603020202020204" pitchFamily="34" charset="0"/>
              </a:rPr>
              <a:t>Restricciones Dimensionales y de Masa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6325" y="2647950"/>
            <a:ext cx="3172215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egoe UI" panose="020B0502040204020203" pitchFamily="34" charset="0"/>
              </a:rPr>
              <a:t>Envolvente Cinemática de 6 Ejes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325" y="3067050"/>
            <a:ext cx="462915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 err="1">
                <a:solidFill>
                  <a:srgbClr val="334155"/>
                </a:solidFill>
                <a:latin typeface="Segoe UI" panose="020B0502040204020203" pitchFamily="34" charset="0"/>
              </a:rPr>
              <a:t>Alcance</a:t>
            </a:r>
            <a:r>
              <a:rPr sz="1200" b="1" i="0" u="none" dirty="0">
                <a:solidFill>
                  <a:srgbClr val="334155"/>
                </a:solidFill>
                <a:latin typeface="Segoe UI" panose="020B0502040204020203" pitchFamily="34" charset="0"/>
              </a:rPr>
              <a:t> Horizontal </a:t>
            </a:r>
            <a:r>
              <a:rPr sz="1200" b="1" i="0" u="none" dirty="0" err="1">
                <a:solidFill>
                  <a:srgbClr val="334155"/>
                </a:solidFill>
                <a:latin typeface="Segoe UI" panose="020B0502040204020203" pitchFamily="34" charset="0"/>
              </a:rPr>
              <a:t>Extendido</a:t>
            </a:r>
            <a:r>
              <a:rPr sz="1200" b="1" i="0" u="none" dirty="0">
                <a:solidFill>
                  <a:srgbClr val="334155"/>
                </a:solidFill>
                <a:latin typeface="Segoe UI" panose="020B0502040204020203" pitchFamily="34" charset="0"/>
              </a:rPr>
              <a:t>:</a:t>
            </a:r>
            <a:r>
              <a:rPr sz="1200" b="0" i="0" u="none" dirty="0">
                <a:solidFill>
                  <a:srgbClr val="334155"/>
                </a:solidFill>
                <a:latin typeface="Segoe UI" panose="020B0502040204020203" pitchFamily="34" charset="0"/>
              </a:rPr>
              <a:t> 0.77 </a:t>
            </a:r>
            <a:r>
              <a:rPr lang="en-US" sz="1200" dirty="0">
                <a:solidFill>
                  <a:srgbClr val="334155"/>
                </a:solidFill>
                <a:latin typeface="Segoe UI" panose="020B0502040204020203" pitchFamily="34" charset="0"/>
              </a:rPr>
              <a:t>m.</a:t>
            </a:r>
            <a:endParaRPr sz="1200" b="0" i="0" u="none" dirty="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76325" y="3619500"/>
            <a:ext cx="4141968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 err="1">
                <a:solidFill>
                  <a:srgbClr val="334155"/>
                </a:solidFill>
                <a:latin typeface="Segoe UI" panose="020B0502040204020203" pitchFamily="34" charset="0"/>
              </a:rPr>
              <a:t>Eslabón</a:t>
            </a:r>
            <a:r>
              <a:rPr sz="1200" b="1" i="0" u="none" dirty="0">
                <a:solidFill>
                  <a:srgbClr val="334155"/>
                </a:solidFill>
                <a:latin typeface="Segoe UI" panose="020B0502040204020203" pitchFamily="34" charset="0"/>
              </a:rPr>
              <a:t> 1 (</a:t>
            </a:r>
            <a:r>
              <a:rPr sz="1200" b="1" i="0" u="none" dirty="0" err="1">
                <a:solidFill>
                  <a:srgbClr val="334155"/>
                </a:solidFill>
                <a:latin typeface="Segoe UI" panose="020B0502040204020203" pitchFamily="34" charset="0"/>
              </a:rPr>
              <a:t>Hombro-Codo</a:t>
            </a:r>
            <a:r>
              <a:rPr sz="1200" b="1" i="0" u="none" dirty="0">
                <a:solidFill>
                  <a:srgbClr val="334155"/>
                </a:solidFill>
                <a:latin typeface="Segoe UI" panose="020B0502040204020203" pitchFamily="34" charset="0"/>
              </a:rPr>
              <a:t>):</a:t>
            </a:r>
            <a:r>
              <a:rPr sz="1200" b="0" i="0" u="none" dirty="0">
                <a:solidFill>
                  <a:srgbClr val="334155"/>
                </a:solidFill>
                <a:latin typeface="Segoe UI" panose="020B0502040204020203" pitchFamily="34" charset="0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Segoe UI" panose="020B0502040204020203" pitchFamily="34" charset="0"/>
              </a:rPr>
              <a:t>Longitud</a:t>
            </a:r>
            <a:r>
              <a:rPr sz="1200" b="0" i="0" u="none" dirty="0">
                <a:solidFill>
                  <a:srgbClr val="334155"/>
                </a:solidFill>
                <a:latin typeface="Segoe UI" panose="020B0502040204020203" pitchFamily="34" charset="0"/>
              </a:rPr>
              <a:t> </a:t>
            </a:r>
            <a:r>
              <a:rPr lang="en-US" sz="1200" b="0" i="0" u="none" dirty="0" err="1">
                <a:solidFill>
                  <a:srgbClr val="334155"/>
                </a:solidFill>
                <a:latin typeface="Segoe UI" panose="020B0502040204020203" pitchFamily="34" charset="0"/>
              </a:rPr>
              <a:t>planteada</a:t>
            </a:r>
            <a:r>
              <a:rPr sz="1200" b="0" i="0" u="none" dirty="0">
                <a:solidFill>
                  <a:srgbClr val="334155"/>
                </a:solidFill>
                <a:latin typeface="Segoe UI" panose="020B0502040204020203" pitchFamily="34" charset="0"/>
              </a:rPr>
              <a:t> de 264 mm.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" y="3981450"/>
            <a:ext cx="4110484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 err="1">
                <a:solidFill>
                  <a:srgbClr val="334155"/>
                </a:solidFill>
                <a:latin typeface="Segoe UI" panose="020B0502040204020203" pitchFamily="34" charset="0"/>
              </a:rPr>
              <a:t>Eslabón</a:t>
            </a:r>
            <a:r>
              <a:rPr sz="1200" b="1" i="0" u="none" dirty="0">
                <a:solidFill>
                  <a:srgbClr val="334155"/>
                </a:solidFill>
                <a:latin typeface="Segoe UI" panose="020B0502040204020203" pitchFamily="34" charset="0"/>
              </a:rPr>
              <a:t> 2 (</a:t>
            </a:r>
            <a:r>
              <a:rPr sz="1200" b="1" i="0" u="none" dirty="0" err="1">
                <a:solidFill>
                  <a:srgbClr val="334155"/>
                </a:solidFill>
                <a:latin typeface="Segoe UI" panose="020B0502040204020203" pitchFamily="34" charset="0"/>
              </a:rPr>
              <a:t>Codo-Muñeca</a:t>
            </a:r>
            <a:r>
              <a:rPr sz="1200" b="1" i="0" u="none" dirty="0">
                <a:solidFill>
                  <a:srgbClr val="334155"/>
                </a:solidFill>
                <a:latin typeface="Segoe UI" panose="020B0502040204020203" pitchFamily="34" charset="0"/>
              </a:rPr>
              <a:t>):</a:t>
            </a:r>
            <a:r>
              <a:rPr sz="1200" b="0" i="0" u="none" dirty="0">
                <a:solidFill>
                  <a:srgbClr val="334155"/>
                </a:solidFill>
                <a:latin typeface="Segoe UI" panose="020B0502040204020203" pitchFamily="34" charset="0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Segoe UI" panose="020B0502040204020203" pitchFamily="34" charset="0"/>
              </a:rPr>
              <a:t>Longitud</a:t>
            </a:r>
            <a:r>
              <a:rPr sz="1200" b="0" i="0" u="none" dirty="0">
                <a:solidFill>
                  <a:srgbClr val="334155"/>
                </a:solidFill>
                <a:latin typeface="Segoe UI" panose="020B0502040204020203" pitchFamily="34" charset="0"/>
              </a:rPr>
              <a:t> </a:t>
            </a:r>
            <a:r>
              <a:rPr lang="en-US" sz="1200" b="0" i="0" u="none" dirty="0" err="1">
                <a:solidFill>
                  <a:srgbClr val="334155"/>
                </a:solidFill>
                <a:latin typeface="Segoe UI" panose="020B0502040204020203" pitchFamily="34" charset="0"/>
              </a:rPr>
              <a:t>planteada</a:t>
            </a:r>
            <a:r>
              <a:rPr sz="1200" b="0" i="0" u="none" dirty="0">
                <a:solidFill>
                  <a:srgbClr val="334155"/>
                </a:solidFill>
                <a:latin typeface="Segoe UI" panose="020B0502040204020203" pitchFamily="34" charset="0"/>
              </a:rPr>
              <a:t> de 242 mm.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6325" y="4343400"/>
            <a:ext cx="462915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334155"/>
                </a:solidFill>
                <a:latin typeface="Segoe UI" panose="020B0502040204020203" pitchFamily="34" charset="0"/>
              </a:rPr>
              <a:t>Espacio de </a:t>
            </a:r>
            <a:r>
              <a:rPr sz="1200" b="1" i="0" u="none" dirty="0" err="1">
                <a:solidFill>
                  <a:srgbClr val="334155"/>
                </a:solidFill>
                <a:latin typeface="Segoe UI" panose="020B0502040204020203" pitchFamily="34" charset="0"/>
              </a:rPr>
              <a:t>Instalación</a:t>
            </a:r>
            <a:r>
              <a:rPr sz="1200" b="1" i="0" u="none" dirty="0">
                <a:solidFill>
                  <a:srgbClr val="334155"/>
                </a:solidFill>
                <a:latin typeface="Segoe UI" panose="020B0502040204020203" pitchFamily="34" charset="0"/>
              </a:rPr>
              <a:t> </a:t>
            </a:r>
            <a:r>
              <a:rPr sz="1200" b="1" i="0" u="none" dirty="0" err="1">
                <a:solidFill>
                  <a:srgbClr val="334155"/>
                </a:solidFill>
                <a:latin typeface="Segoe UI" panose="020B0502040204020203" pitchFamily="34" charset="0"/>
              </a:rPr>
              <a:t>en</a:t>
            </a:r>
            <a:r>
              <a:rPr sz="1200" b="1" i="0" u="none" dirty="0">
                <a:solidFill>
                  <a:srgbClr val="334155"/>
                </a:solidFill>
                <a:latin typeface="Segoe UI" panose="020B0502040204020203" pitchFamily="34" charset="0"/>
              </a:rPr>
              <a:t> Mesa:</a:t>
            </a:r>
            <a:r>
              <a:rPr sz="1200" b="0" i="0" u="none" dirty="0">
                <a:solidFill>
                  <a:srgbClr val="334155"/>
                </a:solidFill>
                <a:latin typeface="Segoe UI" panose="020B0502040204020203" pitchFamily="34" charset="0"/>
              </a:rPr>
              <a:t> Base de </a:t>
            </a:r>
            <a:r>
              <a:rPr sz="1200" b="0" i="0" u="none" dirty="0" err="1">
                <a:solidFill>
                  <a:srgbClr val="334155"/>
                </a:solidFill>
                <a:latin typeface="Segoe UI" panose="020B0502040204020203" pitchFamily="34" charset="0"/>
              </a:rPr>
              <a:t>apoyo</a:t>
            </a:r>
            <a:endParaRPr sz="1200" b="0" i="0" u="none" dirty="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81775" y="2552700"/>
            <a:ext cx="3229923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egoe UI" panose="020B0502040204020203" pitchFamily="34" charset="0"/>
              </a:rPr>
              <a:t>Distribución de Masa Estructural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1775" y="2971800"/>
            <a:ext cx="462915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Segoe UI" panose="020B0502040204020203" pitchFamily="34" charset="0"/>
              </a:rPr>
              <a:t>Masa Móvil Suspendida:</a:t>
            </a:r>
            <a:r>
              <a:rPr sz="1200" b="0" i="0" u="none">
                <a:solidFill>
                  <a:srgbClr val="334155"/>
                </a:solidFill>
                <a:latin typeface="Segoe UI" panose="020B0502040204020203" pitchFamily="34" charset="0"/>
              </a:rPr>
              <a:t> Apenas 1.2 kg de piezas huecas y poleas.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1775" y="3524250"/>
            <a:ext cx="46291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Segoe UI" panose="020B0502040204020203" pitchFamily="34" charset="0"/>
              </a:rPr>
              <a:t>Masa Concentrada en Base:</a:t>
            </a:r>
            <a:r>
              <a:rPr sz="1200" b="0" i="0" u="none">
                <a:solidFill>
                  <a:srgbClr val="334155"/>
                </a:solidFill>
                <a:latin typeface="Segoe UI" panose="020B0502040204020203" pitchFamily="34" charset="0"/>
              </a:rPr>
              <a:t> Motores pesados y baleros descansando en mesa.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1775" y="4076700"/>
            <a:ext cx="425834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Segoe UI" panose="020B0502040204020203" pitchFamily="34" charset="0"/>
              </a:rPr>
              <a:t>Carga Nominal Operativa:</a:t>
            </a:r>
            <a:r>
              <a:rPr sz="1200" b="0" i="0" u="none">
                <a:solidFill>
                  <a:srgbClr val="334155"/>
                </a:solidFill>
                <a:latin typeface="Segoe UI" panose="020B0502040204020203" pitchFamily="34" charset="0"/>
              </a:rPr>
              <a:t> 1.5 kg útil con factor estricto FS=3.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1775" y="4438650"/>
            <a:ext cx="46291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Segoe UI" panose="020B0502040204020203" pitchFamily="34" charset="0"/>
              </a:rPr>
              <a:t>Capacidad Estructural:</a:t>
            </a:r>
            <a:r>
              <a:rPr sz="1200" b="0" i="0" u="none">
                <a:solidFill>
                  <a:srgbClr val="334155"/>
                </a:solidFill>
                <a:latin typeface="Segoe UI" panose="020B0502040204020203" pitchFamily="34" charset="0"/>
              </a:rPr>
              <a:t> Dimensionado cinemático para admitir hasta 5 kg.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711499"/>
            <a:ext cx="3403550" cy="1949201"/>
          </a:xfrm>
          <a:prstGeom prst="roundRect">
            <a:avLst>
              <a:gd name="adj" fmla="val 5863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94150" y="2711499"/>
            <a:ext cx="3403550" cy="1949201"/>
          </a:xfrm>
          <a:prstGeom prst="roundRect">
            <a:avLst>
              <a:gd name="adj" fmla="val 5863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26300" y="2711499"/>
            <a:ext cx="3403550" cy="1949201"/>
          </a:xfrm>
          <a:prstGeom prst="roundRect">
            <a:avLst>
              <a:gd name="adj" fmla="val 5863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2987724"/>
            <a:ext cx="3003500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4175" y="2987724"/>
            <a:ext cx="300350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6325" y="2987724"/>
            <a:ext cx="300350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6162675"/>
            <a:ext cx="3169137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Segoe UI" panose="020B0502040204020203" pitchFamily="34" charset="0"/>
              </a:rPr>
              <a:t>Evaluación Estructural de Polímeros y Metales Ligeros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533400"/>
            <a:ext cx="2524730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Segoe UI" panose="020B0502040204020203" pitchFamily="34" charset="0"/>
              </a:rPr>
              <a:t>RESTRICCIONES DE DISEÑO · PUNTO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771525"/>
            <a:ext cx="8450840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Trebuchet MS" panose="020B0603020202020204" pitchFamily="34" charset="0"/>
              </a:rPr>
              <a:t>Materiales de Fabricación: Selección y Restricciones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3311574"/>
            <a:ext cx="1139736" cy="21929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66534"/>
                </a:solidFill>
                <a:latin typeface="Segoe UI" panose="020B0502040204020203" pitchFamily="34" charset="0"/>
              </a:rPr>
              <a:t>PETG / Nylon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025" y="3625899"/>
            <a:ext cx="1510029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4532D"/>
                </a:solidFill>
                <a:latin typeface="Segoe UI" panose="020B0502040204020203" pitchFamily="34" charset="0"/>
              </a:rPr>
              <a:t>En consideración activa.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025" y="3883074"/>
            <a:ext cx="3098750" cy="50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sz="975" b="0" i="0" u="none">
                <a:solidFill>
                  <a:srgbClr val="334155"/>
                </a:solidFill>
                <a:latin typeface="Segoe UI" panose="020B0502040204020203" pitchFamily="34" charset="0"/>
              </a:rPr>
              <a:t>PETG con 8 perímetros y 100% relleno para poleas y carcasas. Nylon evaluado por su alta tenacidad ante fricción mecánica en engranes.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4175" y="3311574"/>
            <a:ext cx="1249637" cy="21929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991B1B"/>
                </a:solidFill>
                <a:latin typeface="Segoe UI" panose="020B0502040204020203" pitchFamily="34" charset="0"/>
              </a:rPr>
              <a:t>TPU Prohibido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4175" y="3625899"/>
            <a:ext cx="1510029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7F1D1D"/>
                </a:solidFill>
                <a:latin typeface="Segoe UI" panose="020B0502040204020203" pitchFamily="34" charset="0"/>
              </a:rPr>
              <a:t>Inviable en transmisión.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4175" y="3883074"/>
            <a:ext cx="3098750" cy="50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sz="975" b="0" i="0" u="none">
                <a:solidFill>
                  <a:srgbClr val="334155"/>
                </a:solidFill>
                <a:latin typeface="Segoe UI" panose="020B0502040204020203" pitchFamily="34" charset="0"/>
              </a:rPr>
              <a:t>Su elasticidad causaría flexión de dientes, pérdida de tensión y salto de pasos inmediato bajo torque. Solo admitido en almohadillas del gripper.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6325" y="3311574"/>
            <a:ext cx="1864998" cy="21929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369A1"/>
                </a:solidFill>
                <a:latin typeface="Segoe UI" panose="020B0502040204020203" pitchFamily="34" charset="0"/>
              </a:rPr>
              <a:t>Refuerzo de Aluminio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6325" y="3625899"/>
            <a:ext cx="1570943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75985"/>
                </a:solidFill>
                <a:latin typeface="Segoe UI" panose="020B0502040204020203" pitchFamily="34" charset="0"/>
              </a:rPr>
              <a:t>Rigidez complementaria.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6325" y="3883074"/>
            <a:ext cx="3098750" cy="50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sz="975" b="0" i="0" u="none">
                <a:solidFill>
                  <a:srgbClr val="334155"/>
                </a:solidFill>
                <a:latin typeface="Segoe UI" panose="020B0502040204020203" pitchFamily="34" charset="0"/>
              </a:rPr>
              <a:t>Consideración de placas o perfiles de aluminio en eslabones largos para evitar deflexión elástica ante momentos flectores de 46 N·m.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419350"/>
            <a:ext cx="5162550" cy="2533650"/>
          </a:xfrm>
          <a:prstGeom prst="roundRect">
            <a:avLst>
              <a:gd name="adj" fmla="val 45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67450" y="2419350"/>
            <a:ext cx="5162550" cy="2533650"/>
          </a:xfrm>
          <a:prstGeom prst="roundRect">
            <a:avLst>
              <a:gd name="adj" fmla="val 45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62000" y="6162675"/>
            <a:ext cx="2830903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Segoe UI" panose="020B0502040204020203" pitchFamily="34" charset="0"/>
              </a:rPr>
              <a:t>Diagrama de Distribución de Potencia y Señales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33400"/>
            <a:ext cx="2524730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Segoe UI" panose="020B0502040204020203" pitchFamily="34" charset="0"/>
              </a:rPr>
              <a:t>RESTRICCIONES DE DISEÑO · PUNTO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71525"/>
            <a:ext cx="5822107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Trebuchet MS" panose="020B0603020202020204" pitchFamily="34" charset="0"/>
              </a:rPr>
              <a:t>Alimentación y Consumo Energético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6325" y="2733675"/>
            <a:ext cx="3080395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egoe UI" panose="020B0502040204020203" pitchFamily="34" charset="0"/>
              </a:rPr>
              <a:t>Suministro y Niveles de Voltaje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325" y="3152775"/>
            <a:ext cx="46291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Segoe UI" panose="020B0502040204020203" pitchFamily="34" charset="0"/>
              </a:rPr>
              <a:t>Etapa de Alta Potencia:</a:t>
            </a:r>
            <a:r>
              <a:rPr sz="1200" b="0" i="0" u="none">
                <a:solidFill>
                  <a:srgbClr val="334155"/>
                </a:solidFill>
                <a:latin typeface="Segoe UI" panose="020B0502040204020203" pitchFamily="34" charset="0"/>
              </a:rPr>
              <a:t> 36V a 48V DC para drivers industriales DM860 (NEMA 34).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6325" y="3705225"/>
            <a:ext cx="46291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Segoe UI" panose="020B0502040204020203" pitchFamily="34" charset="0"/>
              </a:rPr>
              <a:t>Etapa Secundaria:</a:t>
            </a:r>
            <a:r>
              <a:rPr sz="1200" b="0" i="0" u="none">
                <a:solidFill>
                  <a:srgbClr val="334155"/>
                </a:solidFill>
                <a:latin typeface="Segoe UI" panose="020B0502040204020203" pitchFamily="34" charset="0"/>
              </a:rPr>
              <a:t> 24V DC regulado para controladores de NEMA 17 con planetarias.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" y="4257675"/>
            <a:ext cx="46291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Segoe UI" panose="020B0502040204020203" pitchFamily="34" charset="0"/>
              </a:rPr>
              <a:t>Lógica de Control:</a:t>
            </a:r>
            <a:r>
              <a:rPr sz="1200" b="0" i="0" u="none">
                <a:solidFill>
                  <a:srgbClr val="334155"/>
                </a:solidFill>
                <a:latin typeface="Segoe UI" panose="020B0502040204020203" pitchFamily="34" charset="0"/>
              </a:rPr>
              <a:t> 5V / 3.3V con aislamiento óptico contra ruido electromagnético.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1775" y="2733675"/>
            <a:ext cx="2748445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egoe UI" panose="020B0502040204020203" pitchFamily="34" charset="0"/>
              </a:rPr>
              <a:t>Corriente y Gestión Térmica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1775" y="3152775"/>
            <a:ext cx="46291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Segoe UI" panose="020B0502040204020203" pitchFamily="34" charset="0"/>
              </a:rPr>
              <a:t>Demanda Simultánea:</a:t>
            </a:r>
            <a:r>
              <a:rPr sz="1200" b="0" i="0" u="none">
                <a:solidFill>
                  <a:srgbClr val="334155"/>
                </a:solidFill>
                <a:latin typeface="Segoe UI" panose="020B0502040204020203" pitchFamily="34" charset="0"/>
              </a:rPr>
              <a:t> Consumo pico acotado a 12A – 15A en aceleración.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1775" y="3705225"/>
            <a:ext cx="46291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Segoe UI" panose="020B0502040204020203" pitchFamily="34" charset="0"/>
              </a:rPr>
              <a:t>Disipación Concentrada:</a:t>
            </a:r>
            <a:r>
              <a:rPr sz="1200" b="0" i="0" u="none">
                <a:solidFill>
                  <a:srgbClr val="334155"/>
                </a:solidFill>
                <a:latin typeface="Segoe UI" panose="020B0502040204020203" pitchFamily="34" charset="0"/>
              </a:rPr>
              <a:t> Drivers y fuente montados en la base con ventilación forzada.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1775" y="4257675"/>
            <a:ext cx="46291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Segoe UI" panose="020B0502040204020203" pitchFamily="34" charset="0"/>
              </a:rPr>
              <a:t>Aislamiento en Eslabones:</a:t>
            </a:r>
            <a:r>
              <a:rPr sz="1200" b="0" i="0" u="none">
                <a:solidFill>
                  <a:srgbClr val="334155"/>
                </a:solidFill>
                <a:latin typeface="Segoe UI" panose="020B0502040204020203" pitchFamily="34" charset="0"/>
              </a:rPr>
              <a:t> Motores alejados de piezas plásticas, previniendo ablandamiento.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486025"/>
            <a:ext cx="4648646" cy="2400300"/>
          </a:xfrm>
          <a:prstGeom prst="roundRect">
            <a:avLst>
              <a:gd name="adj" fmla="val 476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53546" y="2247900"/>
            <a:ext cx="5676453" cy="2876550"/>
          </a:xfrm>
          <a:prstGeom prst="roundRect">
            <a:avLst>
              <a:gd name="adj" fmla="val 397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2819400"/>
            <a:ext cx="257175" cy="228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7871" y="2581275"/>
            <a:ext cx="257175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6162675"/>
            <a:ext cx="2380460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Segoe UI" panose="020B0502040204020203" pitchFamily="34" charset="0"/>
              </a:rPr>
              <a:t>Estrategia de Optimización Presupuestal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533400"/>
            <a:ext cx="2909451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Segoe UI" panose="020B0502040204020203" pitchFamily="34" charset="0"/>
              </a:rPr>
              <a:t>RESTRICCIONES DE DISEÑO · PUNTOS 13 Y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771525"/>
            <a:ext cx="6860853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Trebuchet MS" panose="020B0603020202020204" pitchFamily="34" charset="0"/>
              </a:rPr>
              <a:t>Presupuesto e Inventario de Componentes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6325" y="3219450"/>
            <a:ext cx="4115246" cy="602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 dirty="0">
                <a:solidFill>
                  <a:srgbClr val="14532D"/>
                </a:solidFill>
                <a:latin typeface="Segoe UI" panose="020B0502040204020203" pitchFamily="34" charset="0"/>
              </a:rPr>
              <a:t>Ya </a:t>
            </a:r>
            <a:r>
              <a:rPr sz="1125" b="1" i="0" u="none" dirty="0" err="1">
                <a:solidFill>
                  <a:srgbClr val="14532D"/>
                </a:solidFill>
                <a:latin typeface="Segoe UI" panose="020B0502040204020203" pitchFamily="34" charset="0"/>
              </a:rPr>
              <a:t>disponibles</a:t>
            </a:r>
            <a:r>
              <a:rPr sz="1125" b="1" i="0" u="none" dirty="0">
                <a:solidFill>
                  <a:srgbClr val="14532D"/>
                </a:solidFill>
                <a:latin typeface="Segoe UI" panose="020B0502040204020203" pitchFamily="34" charset="0"/>
              </a:rPr>
              <a:t> al 100%:</a:t>
            </a:r>
            <a:r>
              <a:rPr sz="1125" b="0" i="0" u="none" dirty="0">
                <a:solidFill>
                  <a:srgbClr val="14532D"/>
                </a:solidFill>
                <a:latin typeface="Segoe UI" panose="020B0502040204020203" pitchFamily="34" charset="0"/>
              </a:rPr>
              <a:t> </a:t>
            </a:r>
            <a:r>
              <a:rPr sz="1125" b="0" i="0" u="none" dirty="0" err="1">
                <a:solidFill>
                  <a:srgbClr val="14532D"/>
                </a:solidFill>
                <a:latin typeface="Segoe UI" panose="020B0502040204020203" pitchFamily="34" charset="0"/>
              </a:rPr>
              <a:t>Todos</a:t>
            </a:r>
            <a:r>
              <a:rPr sz="1125" b="0" i="0" u="none" dirty="0">
                <a:solidFill>
                  <a:srgbClr val="14532D"/>
                </a:solidFill>
                <a:latin typeface="Segoe UI" panose="020B0502040204020203" pitchFamily="34" charset="0"/>
              </a:rPr>
              <a:t> </a:t>
            </a:r>
            <a:r>
              <a:rPr sz="1125" b="0" i="0" u="none" dirty="0" err="1">
                <a:solidFill>
                  <a:srgbClr val="14532D"/>
                </a:solidFill>
                <a:latin typeface="Segoe UI" panose="020B0502040204020203" pitchFamily="34" charset="0"/>
              </a:rPr>
              <a:t>los</a:t>
            </a:r>
            <a:r>
              <a:rPr sz="1125" b="0" i="0" u="none" dirty="0">
                <a:solidFill>
                  <a:srgbClr val="14532D"/>
                </a:solidFill>
                <a:latin typeface="Segoe UI" panose="020B0502040204020203" pitchFamily="34" charset="0"/>
              </a:rPr>
              <a:t> </a:t>
            </a:r>
            <a:r>
              <a:rPr sz="1125" b="0" i="0" u="none" dirty="0" err="1">
                <a:solidFill>
                  <a:srgbClr val="14532D"/>
                </a:solidFill>
                <a:latin typeface="Segoe UI" panose="020B0502040204020203" pitchFamily="34" charset="0"/>
              </a:rPr>
              <a:t>motores</a:t>
            </a:r>
            <a:r>
              <a:rPr sz="1125" b="0" i="0" u="none" dirty="0">
                <a:solidFill>
                  <a:srgbClr val="14532D"/>
                </a:solidFill>
                <a:latin typeface="Segoe UI" panose="020B0502040204020203" pitchFamily="34" charset="0"/>
              </a:rPr>
              <a:t> a pasos (NEMA 34 y NEMA 17) y </a:t>
            </a:r>
            <a:r>
              <a:rPr sz="1125" b="0" i="0" u="none" dirty="0" err="1">
                <a:solidFill>
                  <a:srgbClr val="14532D"/>
                </a:solidFill>
                <a:latin typeface="Segoe UI" panose="020B0502040204020203" pitchFamily="34" charset="0"/>
              </a:rPr>
              <a:t>los</a:t>
            </a:r>
            <a:r>
              <a:rPr sz="1125" b="0" i="0" u="none" dirty="0">
                <a:solidFill>
                  <a:srgbClr val="14532D"/>
                </a:solidFill>
                <a:latin typeface="Segoe UI" panose="020B0502040204020203" pitchFamily="34" charset="0"/>
              </a:rPr>
              <a:t> </a:t>
            </a:r>
            <a:r>
              <a:rPr sz="1125" b="0" i="0" u="none" dirty="0" err="1">
                <a:solidFill>
                  <a:srgbClr val="14532D"/>
                </a:solidFill>
                <a:latin typeface="Segoe UI" panose="020B0502040204020203" pitchFamily="34" charset="0"/>
              </a:rPr>
              <a:t>motorreductores</a:t>
            </a:r>
            <a:r>
              <a:rPr sz="1125" b="0" i="0" u="none" dirty="0">
                <a:solidFill>
                  <a:srgbClr val="14532D"/>
                </a:solidFill>
                <a:latin typeface="Segoe UI" panose="020B0502040204020203" pitchFamily="34" charset="0"/>
              </a:rPr>
              <a:t> </a:t>
            </a:r>
            <a:r>
              <a:rPr sz="1125" b="0" i="0" u="none" dirty="0" err="1">
                <a:solidFill>
                  <a:srgbClr val="14532D"/>
                </a:solidFill>
                <a:latin typeface="Segoe UI" panose="020B0502040204020203" pitchFamily="34" charset="0"/>
              </a:rPr>
              <a:t>planetarios</a:t>
            </a:r>
            <a:r>
              <a:rPr lang="en-US" sz="1125" dirty="0">
                <a:solidFill>
                  <a:srgbClr val="14532D"/>
                </a:solidFill>
                <a:latin typeface="Segoe UI" panose="020B0502040204020203" pitchFamily="34" charset="0"/>
              </a:rPr>
              <a:t> </a:t>
            </a:r>
            <a:r>
              <a:rPr sz="1125" b="0" i="0" u="none" dirty="0">
                <a:solidFill>
                  <a:srgbClr val="14532D"/>
                </a:solidFill>
                <a:latin typeface="Segoe UI" panose="020B0502040204020203" pitchFamily="34" charset="0"/>
              </a:rPr>
              <a:t>10:1 </a:t>
            </a:r>
            <a:r>
              <a:rPr sz="1125" b="0" i="0" u="none" dirty="0" err="1">
                <a:solidFill>
                  <a:srgbClr val="14532D"/>
                </a:solidFill>
                <a:latin typeface="Segoe UI" panose="020B0502040204020203" pitchFamily="34" charset="0"/>
              </a:rPr>
              <a:t>están</a:t>
            </a:r>
            <a:r>
              <a:rPr sz="1125" b="0" i="0" u="none" dirty="0">
                <a:solidFill>
                  <a:srgbClr val="14532D"/>
                </a:solidFill>
                <a:latin typeface="Segoe UI" panose="020B0502040204020203" pitchFamily="34" charset="0"/>
              </a:rPr>
              <a:t> </a:t>
            </a:r>
            <a:r>
              <a:rPr sz="1125" b="0" i="0" u="none" dirty="0" err="1">
                <a:solidFill>
                  <a:srgbClr val="14532D"/>
                </a:solidFill>
                <a:latin typeface="Segoe UI" panose="020B0502040204020203" pitchFamily="34" charset="0"/>
              </a:rPr>
              <a:t>físicamente</a:t>
            </a:r>
            <a:r>
              <a:rPr sz="1125" b="0" i="0" u="none" dirty="0">
                <a:solidFill>
                  <a:srgbClr val="14532D"/>
                </a:solidFill>
                <a:latin typeface="Segoe UI" panose="020B0502040204020203" pitchFamily="34" charset="0"/>
              </a:rPr>
              <a:t> </a:t>
            </a:r>
            <a:r>
              <a:rPr sz="1125" b="0" i="0" u="none" dirty="0" err="1">
                <a:solidFill>
                  <a:srgbClr val="14532D"/>
                </a:solidFill>
                <a:latin typeface="Segoe UI" panose="020B0502040204020203" pitchFamily="34" charset="0"/>
              </a:rPr>
              <a:t>en</a:t>
            </a:r>
            <a:r>
              <a:rPr sz="1125" b="0" i="0" u="none" dirty="0">
                <a:solidFill>
                  <a:srgbClr val="14532D"/>
                </a:solidFill>
                <a:latin typeface="Segoe UI" panose="020B0502040204020203" pitchFamily="34" charset="0"/>
              </a:rPr>
              <a:t> </a:t>
            </a:r>
            <a:r>
              <a:rPr sz="1125" b="0" i="0" u="none" dirty="0" err="1">
                <a:solidFill>
                  <a:srgbClr val="14532D"/>
                </a:solidFill>
                <a:latin typeface="Segoe UI" panose="020B0502040204020203" pitchFamily="34" charset="0"/>
              </a:rPr>
              <a:t>inventari</a:t>
            </a:r>
            <a:r>
              <a:rPr lang="en-US" sz="1125" b="0" i="0" u="none" dirty="0" err="1">
                <a:solidFill>
                  <a:srgbClr val="14532D"/>
                </a:solidFill>
                <a:latin typeface="Segoe UI" panose="020B0502040204020203" pitchFamily="34" charset="0"/>
              </a:rPr>
              <a:t>o</a:t>
            </a:r>
            <a:r>
              <a:rPr lang="en-US" sz="1125" b="0" i="0" u="none" dirty="0">
                <a:solidFill>
                  <a:srgbClr val="14532D"/>
                </a:solidFill>
                <a:latin typeface="Segoe UI" panose="020B0502040204020203" pitchFamily="34" charset="0"/>
              </a:rPr>
              <a:t> y </a:t>
            </a:r>
            <a:r>
              <a:rPr lang="en-US" sz="1125" b="0" i="0" u="none" dirty="0" err="1">
                <a:solidFill>
                  <a:srgbClr val="14532D"/>
                </a:solidFill>
                <a:latin typeface="Segoe UI" panose="020B0502040204020203" pitchFamily="34" charset="0"/>
              </a:rPr>
              <a:t>ya</a:t>
            </a:r>
            <a:r>
              <a:rPr lang="en-US" sz="1125" b="0" i="0" u="none" dirty="0">
                <a:solidFill>
                  <a:srgbClr val="14532D"/>
                </a:solidFill>
                <a:latin typeface="Segoe UI" panose="020B0502040204020203" pitchFamily="34" charset="0"/>
              </a:rPr>
              <a:t> </a:t>
            </a:r>
            <a:r>
              <a:rPr lang="en-US" sz="1125" b="0" i="0" u="none" dirty="0" err="1">
                <a:solidFill>
                  <a:srgbClr val="14532D"/>
                </a:solidFill>
                <a:latin typeface="Segoe UI" panose="020B0502040204020203" pitchFamily="34" charset="0"/>
              </a:rPr>
              <a:t>disponemos</a:t>
            </a:r>
            <a:r>
              <a:rPr lang="en-US" sz="1125" b="0" i="0" u="none" dirty="0">
                <a:solidFill>
                  <a:srgbClr val="14532D"/>
                </a:solidFill>
                <a:latin typeface="Segoe UI" panose="020B0502040204020203" pitchFamily="34" charset="0"/>
              </a:rPr>
              <a:t> de </a:t>
            </a:r>
            <a:r>
              <a:rPr lang="en-US" sz="1125" b="0" i="0" u="none" dirty="0" err="1">
                <a:solidFill>
                  <a:srgbClr val="14532D"/>
                </a:solidFill>
                <a:latin typeface="Segoe UI" panose="020B0502040204020203" pitchFamily="34" charset="0"/>
              </a:rPr>
              <a:t>ellos</a:t>
            </a:r>
            <a:r>
              <a:rPr sz="1125" b="0" i="0" u="none" dirty="0">
                <a:solidFill>
                  <a:srgbClr val="14532D"/>
                </a:solidFill>
                <a:latin typeface="Segoe UI" panose="020B0502040204020203" pitchFamily="34" charset="0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" y="4171950"/>
            <a:ext cx="4115246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14532D"/>
                </a:solidFill>
                <a:latin typeface="Segoe UI" panose="020B0502040204020203" pitchFamily="34" charset="0"/>
              </a:rPr>
              <a:t>Inversión amortizada:</a:t>
            </a:r>
            <a:r>
              <a:rPr sz="1125" b="0" i="0" u="none">
                <a:solidFill>
                  <a:srgbClr val="14532D"/>
                </a:solidFill>
                <a:latin typeface="Segoe UI" panose="020B0502040204020203" pitchFamily="34" charset="0"/>
              </a:rPr>
              <a:t> No se requiere comprar nuevos actuadores ni cajas reductoras metálicas caras.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8750" y="2800350"/>
            <a:ext cx="2729914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66534"/>
                </a:solidFill>
                <a:latin typeface="Trebuchet MS" panose="020B0603020202020204" pitchFamily="34" charset="0"/>
              </a:rPr>
              <a:t>Componentes en Inventario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0296" y="2562225"/>
            <a:ext cx="3573927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Trebuchet MS" panose="020B0603020202020204" pitchFamily="34" charset="0"/>
              </a:rPr>
              <a:t>Componentes Faltantes por Adquirir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67871" y="2981325"/>
            <a:ext cx="5143053" cy="3747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125" b="1" i="0" u="none" dirty="0" err="1">
                <a:solidFill>
                  <a:srgbClr val="334155"/>
                </a:solidFill>
                <a:latin typeface="Segoe UI" panose="020B0502040204020203" pitchFamily="34" charset="0"/>
              </a:rPr>
              <a:t>Rodamientos</a:t>
            </a:r>
            <a:r>
              <a:rPr sz="1125" b="1" i="0" u="none" dirty="0">
                <a:solidFill>
                  <a:srgbClr val="334155"/>
                </a:solidFill>
                <a:latin typeface="Segoe UI" panose="020B0502040204020203" pitchFamily="34" charset="0"/>
              </a:rPr>
              <a:t> y </a:t>
            </a:r>
            <a:r>
              <a:rPr sz="1125" b="1" i="0" u="none" dirty="0" err="1">
                <a:solidFill>
                  <a:srgbClr val="334155"/>
                </a:solidFill>
                <a:latin typeface="Segoe UI" panose="020B0502040204020203" pitchFamily="34" charset="0"/>
              </a:rPr>
              <a:t>Baleros</a:t>
            </a:r>
            <a:r>
              <a:rPr sz="1125" b="1" i="0" u="none" dirty="0">
                <a:solidFill>
                  <a:srgbClr val="334155"/>
                </a:solidFill>
                <a:latin typeface="Segoe UI" panose="020B0502040204020203" pitchFamily="34" charset="0"/>
              </a:rPr>
              <a:t>:</a:t>
            </a:r>
            <a:r>
              <a:rPr sz="1125" b="0" i="0" u="none" dirty="0">
                <a:solidFill>
                  <a:srgbClr val="334155"/>
                </a:solidFill>
                <a:latin typeface="Segoe UI" panose="020B0502040204020203" pitchFamily="34" charset="0"/>
              </a:rPr>
              <a:t> </a:t>
            </a:r>
            <a:r>
              <a:rPr sz="1125" b="0" i="0" u="none" dirty="0" err="1">
                <a:solidFill>
                  <a:srgbClr val="334155"/>
                </a:solidFill>
                <a:latin typeface="Segoe UI" panose="020B0502040204020203" pitchFamily="34" charset="0"/>
              </a:rPr>
              <a:t>Modelos</a:t>
            </a:r>
            <a:r>
              <a:rPr sz="1125" b="0" i="0" u="none" dirty="0">
                <a:solidFill>
                  <a:srgbClr val="334155"/>
                </a:solidFill>
                <a:latin typeface="Segoe UI" panose="020B0502040204020203" pitchFamily="34" charset="0"/>
              </a:rPr>
              <a:t> 608ZZ y </a:t>
            </a:r>
            <a:r>
              <a:rPr sz="1125" b="0" i="0" u="none" dirty="0" err="1">
                <a:solidFill>
                  <a:srgbClr val="334155"/>
                </a:solidFill>
                <a:latin typeface="Segoe UI" panose="020B0502040204020203" pitchFamily="34" charset="0"/>
              </a:rPr>
              <a:t>rodamientos</a:t>
            </a:r>
            <a:r>
              <a:rPr sz="1125" b="0" i="0" u="none" dirty="0">
                <a:solidFill>
                  <a:srgbClr val="334155"/>
                </a:solidFill>
                <a:latin typeface="Segoe UI" panose="020B0502040204020203" pitchFamily="34" charset="0"/>
              </a:rPr>
              <a:t> </a:t>
            </a:r>
            <a:r>
              <a:rPr sz="1125" b="0" i="0" u="none" dirty="0" err="1">
                <a:solidFill>
                  <a:srgbClr val="334155"/>
                </a:solidFill>
                <a:latin typeface="Segoe UI" panose="020B0502040204020203" pitchFamily="34" charset="0"/>
              </a:rPr>
              <a:t>axiales</a:t>
            </a:r>
            <a:r>
              <a:rPr sz="1125" b="0" i="0" u="none" dirty="0">
                <a:solidFill>
                  <a:srgbClr val="334155"/>
                </a:solidFill>
                <a:latin typeface="Segoe UI" panose="020B0502040204020203" pitchFamily="34" charset="0"/>
              </a:rPr>
              <a:t> para </a:t>
            </a:r>
            <a:r>
              <a:rPr sz="1125" b="0" i="0" u="none" dirty="0" err="1">
                <a:solidFill>
                  <a:srgbClr val="334155"/>
                </a:solidFill>
                <a:latin typeface="Segoe UI" panose="020B0502040204020203" pitchFamily="34" charset="0"/>
              </a:rPr>
              <a:t>ejes</a:t>
            </a:r>
            <a:r>
              <a:rPr sz="1125" b="0" i="0" u="none" dirty="0">
                <a:solidFill>
                  <a:srgbClr val="334155"/>
                </a:solidFill>
                <a:latin typeface="Segoe UI" panose="020B0502040204020203" pitchFamily="34" charset="0"/>
              </a:rPr>
              <a:t> de </a:t>
            </a:r>
            <a:r>
              <a:rPr sz="1125" b="0" i="0" u="none" dirty="0" err="1">
                <a:solidFill>
                  <a:srgbClr val="334155"/>
                </a:solidFill>
                <a:latin typeface="Segoe UI" panose="020B0502040204020203" pitchFamily="34" charset="0"/>
              </a:rPr>
              <a:t>articulación</a:t>
            </a:r>
            <a:r>
              <a:rPr lang="en-US" sz="1125" b="0" i="0" u="none" dirty="0">
                <a:solidFill>
                  <a:srgbClr val="334155"/>
                </a:solidFill>
                <a:latin typeface="Segoe UI" panose="020B0502040204020203" pitchFamily="34" charset="0"/>
              </a:rPr>
              <a:t> o </a:t>
            </a:r>
            <a:r>
              <a:rPr lang="en-US" sz="1125" b="0" i="0" u="none" dirty="0" err="1">
                <a:solidFill>
                  <a:srgbClr val="334155"/>
                </a:solidFill>
                <a:latin typeface="Segoe UI" panose="020B0502040204020203" pitchFamily="34" charset="0"/>
              </a:rPr>
              <a:t>en</a:t>
            </a:r>
            <a:r>
              <a:rPr lang="en-US" sz="1125" b="0" i="0" u="none" dirty="0">
                <a:solidFill>
                  <a:srgbClr val="334155"/>
                </a:solidFill>
                <a:latin typeface="Segoe UI" panose="020B0502040204020203" pitchFamily="34" charset="0"/>
              </a:rPr>
              <a:t> </a:t>
            </a:r>
            <a:r>
              <a:rPr lang="en-US" sz="1125" b="0" i="0" u="none" dirty="0" err="1">
                <a:solidFill>
                  <a:srgbClr val="334155"/>
                </a:solidFill>
                <a:latin typeface="Segoe UI" panose="020B0502040204020203" pitchFamily="34" charset="0"/>
              </a:rPr>
              <a:t>su</a:t>
            </a:r>
            <a:r>
              <a:rPr lang="en-US" sz="1125" b="0" i="0" u="none" dirty="0">
                <a:solidFill>
                  <a:srgbClr val="334155"/>
                </a:solidFill>
                <a:latin typeface="Segoe UI" panose="020B0502040204020203" pitchFamily="34" charset="0"/>
              </a:rPr>
              <a:t> </a:t>
            </a:r>
            <a:r>
              <a:rPr lang="en-US" sz="1125" b="0" i="0" u="none" dirty="0" err="1">
                <a:solidFill>
                  <a:srgbClr val="334155"/>
                </a:solidFill>
                <a:latin typeface="Segoe UI" panose="020B0502040204020203" pitchFamily="34" charset="0"/>
              </a:rPr>
              <a:t>defecto</a:t>
            </a:r>
            <a:r>
              <a:rPr lang="en-US" sz="1125" b="0" i="0" u="none" dirty="0">
                <a:solidFill>
                  <a:srgbClr val="334155"/>
                </a:solidFill>
                <a:latin typeface="Segoe UI" panose="020B0502040204020203" pitchFamily="34" charset="0"/>
              </a:rPr>
              <a:t> </a:t>
            </a:r>
            <a:r>
              <a:rPr lang="en-US" sz="1125" b="0" i="0" u="none" dirty="0" err="1">
                <a:solidFill>
                  <a:srgbClr val="334155"/>
                </a:solidFill>
                <a:latin typeface="Segoe UI" panose="020B0502040204020203" pitchFamily="34" charset="0"/>
              </a:rPr>
              <a:t>impresos</a:t>
            </a:r>
            <a:r>
              <a:rPr lang="en-US" sz="1125" b="0" i="0" u="none" dirty="0">
                <a:solidFill>
                  <a:srgbClr val="334155"/>
                </a:solidFill>
                <a:latin typeface="Segoe UI" panose="020B0502040204020203" pitchFamily="34" charset="0"/>
              </a:rPr>
              <a:t> </a:t>
            </a:r>
            <a:r>
              <a:rPr lang="en-US" sz="1125" b="0" i="0" u="none" dirty="0" err="1">
                <a:solidFill>
                  <a:srgbClr val="334155"/>
                </a:solidFill>
                <a:latin typeface="Segoe UI" panose="020B0502040204020203" pitchFamily="34" charset="0"/>
              </a:rPr>
              <a:t>en</a:t>
            </a:r>
            <a:r>
              <a:rPr lang="en-US" sz="1125" b="0" i="0" u="none" dirty="0">
                <a:solidFill>
                  <a:srgbClr val="334155"/>
                </a:solidFill>
                <a:latin typeface="Segoe UI" panose="020B0502040204020203" pitchFamily="34" charset="0"/>
              </a:rPr>
              <a:t> 3d</a:t>
            </a:r>
            <a:r>
              <a:rPr sz="1125" b="0" i="0" u="none" dirty="0">
                <a:solidFill>
                  <a:srgbClr val="334155"/>
                </a:solidFill>
                <a:latin typeface="Segoe UI" panose="020B0502040204020203" pitchFamily="34" charset="0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67871" y="3462337"/>
            <a:ext cx="514305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125" b="1" i="0" u="none">
                <a:solidFill>
                  <a:srgbClr val="334155"/>
                </a:solidFill>
                <a:latin typeface="Segoe UI" panose="020B0502040204020203" pitchFamily="34" charset="0"/>
              </a:rPr>
              <a:t>Ejes y Tornillería:</a:t>
            </a:r>
            <a:r>
              <a:rPr sz="1125" b="0" i="0" u="none">
                <a:solidFill>
                  <a:srgbClr val="334155"/>
                </a:solidFill>
                <a:latin typeface="Segoe UI" panose="020B0502040204020203" pitchFamily="34" charset="0"/>
              </a:rPr>
              <a:t> Pasadores de acero y pernos métricos para diseñar alojamientos 3D.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67871" y="3943350"/>
            <a:ext cx="5143053" cy="1823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125" b="1" i="0" u="none" dirty="0">
                <a:solidFill>
                  <a:srgbClr val="334155"/>
                </a:solidFill>
                <a:latin typeface="Segoe UI" panose="020B0502040204020203" pitchFamily="34" charset="0"/>
              </a:rPr>
              <a:t>Kit de </a:t>
            </a:r>
            <a:r>
              <a:rPr sz="1125" b="1" i="0" u="none" dirty="0" err="1">
                <a:solidFill>
                  <a:srgbClr val="334155"/>
                </a:solidFill>
                <a:latin typeface="Segoe UI" panose="020B0502040204020203" pitchFamily="34" charset="0"/>
              </a:rPr>
              <a:t>Bandas</a:t>
            </a:r>
            <a:r>
              <a:rPr sz="1125" b="1" i="0" u="none" dirty="0">
                <a:solidFill>
                  <a:srgbClr val="334155"/>
                </a:solidFill>
                <a:latin typeface="Segoe UI" panose="020B0502040204020203" pitchFamily="34" charset="0"/>
              </a:rPr>
              <a:t>:</a:t>
            </a:r>
            <a:r>
              <a:rPr sz="1125" b="0" i="0" u="none" dirty="0">
                <a:solidFill>
                  <a:srgbClr val="334155"/>
                </a:solidFill>
                <a:latin typeface="Segoe UI" panose="020B0502040204020203" pitchFamily="34" charset="0"/>
              </a:rPr>
              <a:t> Correas GT2 / HTD 3M </a:t>
            </a:r>
            <a:r>
              <a:rPr sz="1125" b="0" i="0" u="none" dirty="0" err="1">
                <a:solidFill>
                  <a:srgbClr val="334155"/>
                </a:solidFill>
                <a:latin typeface="Segoe UI" panose="020B0502040204020203" pitchFamily="34" charset="0"/>
              </a:rPr>
              <a:t>dentadas</a:t>
            </a:r>
            <a:r>
              <a:rPr sz="1125" b="0" i="0" u="none" dirty="0">
                <a:solidFill>
                  <a:srgbClr val="334155"/>
                </a:solidFill>
                <a:latin typeface="Segoe UI" panose="020B0502040204020203" pitchFamily="34" charset="0"/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E3C0DB-5E85-C6A6-4768-EFBC09D86DA6}"/>
              </a:ext>
            </a:extLst>
          </p:cNvPr>
          <p:cNvSpPr txBox="1"/>
          <p:nvPr/>
        </p:nvSpPr>
        <p:spPr>
          <a:xfrm>
            <a:off x="6096000" y="4280796"/>
            <a:ext cx="5143053" cy="1823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lang="en-US" sz="1125" b="1" i="0" u="none" dirty="0" err="1">
                <a:solidFill>
                  <a:srgbClr val="C00000"/>
                </a:solidFill>
                <a:latin typeface="Segoe UI" panose="020B0502040204020203" pitchFamily="34" charset="0"/>
              </a:rPr>
              <a:t>Aprox</a:t>
            </a:r>
            <a:r>
              <a:rPr lang="en-US" sz="1125" b="1" dirty="0">
                <a:solidFill>
                  <a:srgbClr val="C00000"/>
                </a:solidFill>
                <a:latin typeface="Segoe UI" panose="020B0502040204020203" pitchFamily="34" charset="0"/>
              </a:rPr>
              <a:t>. 2500</a:t>
            </a:r>
            <a:endParaRPr sz="1125" b="0" i="0" u="none" dirty="0">
              <a:solidFill>
                <a:srgbClr val="C00000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619375"/>
            <a:ext cx="3403550" cy="2133600"/>
          </a:xfrm>
          <a:prstGeom prst="roundRect">
            <a:avLst>
              <a:gd name="adj" fmla="val 5357"/>
            </a:avLst>
          </a:prstGeom>
          <a:solidFill>
            <a:srgbClr val="FFF7ED"/>
          </a:solidFill>
          <a:ln w="9525">
            <a:solidFill>
              <a:srgbClr val="FFE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94150" y="2619375"/>
            <a:ext cx="3403550" cy="2133600"/>
          </a:xfrm>
          <a:prstGeom prst="roundRect">
            <a:avLst>
              <a:gd name="adj" fmla="val 5357"/>
            </a:avLst>
          </a:prstGeom>
          <a:solidFill>
            <a:srgbClr val="FFF7ED"/>
          </a:solidFill>
          <a:ln w="9525">
            <a:solidFill>
              <a:srgbClr val="FFE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26300" y="2619375"/>
            <a:ext cx="3403550" cy="2133600"/>
          </a:xfrm>
          <a:prstGeom prst="roundRect">
            <a:avLst>
              <a:gd name="adj" fmla="val 5357"/>
            </a:avLst>
          </a:prstGeom>
          <a:solidFill>
            <a:srgbClr val="FFF7ED"/>
          </a:solidFill>
          <a:ln w="9525">
            <a:solidFill>
              <a:srgbClr val="FFE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2933700"/>
            <a:ext cx="29273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275" y="2933700"/>
            <a:ext cx="29273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4425" y="2933700"/>
            <a:ext cx="29273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6162675"/>
            <a:ext cx="2228174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Segoe UI" panose="020B0502040204020203" pitchFamily="34" charset="0"/>
              </a:rPr>
              <a:t>Protocolos de Seguridad Mecatrónica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533400"/>
            <a:ext cx="2524730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Segoe UI" panose="020B0502040204020203" pitchFamily="34" charset="0"/>
              </a:rPr>
              <a:t>RESTRICCIONES DE DISEÑO · PUNTO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771525"/>
            <a:ext cx="6687728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Trebuchet MS" panose="020B0603020202020204" pitchFamily="34" charset="0"/>
              </a:rPr>
              <a:t>Condiciones y Restricciones de Seguridad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3314700"/>
            <a:ext cx="2162387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9A3412"/>
                </a:solidFill>
                <a:latin typeface="Segoe UI" panose="020B0502040204020203" pitchFamily="34" charset="0"/>
              </a:rPr>
              <a:t>Validación por Software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125" y="3657600"/>
            <a:ext cx="1734449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31407"/>
                </a:solidFill>
                <a:latin typeface="Segoe UI" panose="020B0502040204020203" pitchFamily="34" charset="0"/>
              </a:rPr>
              <a:t>Sin topes mecánicos duros.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125" y="3952875"/>
            <a:ext cx="30225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7C2D12"/>
                </a:solidFill>
                <a:latin typeface="Segoe UI" panose="020B0502040204020203" pitchFamily="34" charset="0"/>
              </a:rPr>
              <a:t>Límites cinemáticos controlados por firmware para evitar impactos destructivos y desalineación de correas.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2275" y="3314700"/>
            <a:ext cx="2354619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9A3412"/>
                </a:solidFill>
                <a:latin typeface="Segoe UI" panose="020B0502040204020203" pitchFamily="34" charset="0"/>
              </a:rPr>
              <a:t>Poleas y Bandas Cubiertas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2275" y="3657600"/>
            <a:ext cx="1930016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 dirty="0" err="1">
                <a:solidFill>
                  <a:srgbClr val="431407"/>
                </a:solidFill>
                <a:latin typeface="Segoe UI" panose="020B0502040204020203" pitchFamily="34" charset="0"/>
              </a:rPr>
              <a:t>Carcasas</a:t>
            </a:r>
            <a:r>
              <a:rPr sz="1125" b="0" i="0" u="none" dirty="0">
                <a:solidFill>
                  <a:srgbClr val="431407"/>
                </a:solidFill>
                <a:latin typeface="Segoe UI" panose="020B0502040204020203" pitchFamily="34" charset="0"/>
              </a:rPr>
              <a:t> </a:t>
            </a:r>
            <a:r>
              <a:rPr sz="1125" b="0" i="0" u="none" dirty="0" err="1">
                <a:solidFill>
                  <a:srgbClr val="431407"/>
                </a:solidFill>
                <a:latin typeface="Segoe UI" panose="020B0502040204020203" pitchFamily="34" charset="0"/>
              </a:rPr>
              <a:t>protectoras</a:t>
            </a:r>
            <a:r>
              <a:rPr sz="1125" b="0" i="0" u="none" dirty="0">
                <a:solidFill>
                  <a:srgbClr val="431407"/>
                </a:solidFill>
                <a:latin typeface="Segoe UI" panose="020B0502040204020203" pitchFamily="34" charset="0"/>
              </a:rPr>
              <a:t> </a:t>
            </a:r>
            <a:r>
              <a:rPr sz="1125" b="0" i="0" u="none" dirty="0" err="1">
                <a:solidFill>
                  <a:srgbClr val="431407"/>
                </a:solidFill>
                <a:latin typeface="Segoe UI" panose="020B0502040204020203" pitchFamily="34" charset="0"/>
              </a:rPr>
              <a:t>cerradas</a:t>
            </a:r>
            <a:r>
              <a:rPr sz="1125" b="0" i="0" u="none" dirty="0">
                <a:solidFill>
                  <a:srgbClr val="431407"/>
                </a:solidFill>
                <a:latin typeface="Segoe UI" panose="020B0502040204020203" pitchFamily="34" charset="0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2275" y="3952875"/>
            <a:ext cx="3022550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 dirty="0" err="1">
                <a:solidFill>
                  <a:srgbClr val="7C2D12"/>
                </a:solidFill>
                <a:latin typeface="Segoe UI" panose="020B0502040204020203" pitchFamily="34" charset="0"/>
              </a:rPr>
              <a:t>Blindaje</a:t>
            </a:r>
            <a:r>
              <a:rPr sz="1050" b="0" i="0" u="none" dirty="0">
                <a:solidFill>
                  <a:srgbClr val="7C2D12"/>
                </a:solidFill>
                <a:latin typeface="Segoe UI" panose="020B0502040204020203" pitchFamily="34" charset="0"/>
              </a:rPr>
              <a:t> </a:t>
            </a:r>
            <a:r>
              <a:rPr sz="1050" b="0" i="0" u="none" dirty="0" err="1">
                <a:solidFill>
                  <a:srgbClr val="7C2D12"/>
                </a:solidFill>
                <a:latin typeface="Segoe UI" panose="020B0502040204020203" pitchFamily="34" charset="0"/>
              </a:rPr>
              <a:t>en</a:t>
            </a:r>
            <a:r>
              <a:rPr sz="1050" b="0" i="0" u="none" dirty="0">
                <a:solidFill>
                  <a:srgbClr val="7C2D12"/>
                </a:solidFill>
                <a:latin typeface="Segoe UI" panose="020B0502040204020203" pitchFamily="34" charset="0"/>
              </a:rPr>
              <a:t> puntos de </a:t>
            </a:r>
            <a:r>
              <a:rPr sz="1050" b="0" i="0" u="none" dirty="0" err="1">
                <a:solidFill>
                  <a:srgbClr val="7C2D12"/>
                </a:solidFill>
                <a:latin typeface="Segoe UI" panose="020B0502040204020203" pitchFamily="34" charset="0"/>
              </a:rPr>
              <a:t>pellizco</a:t>
            </a:r>
            <a:r>
              <a:rPr sz="1050" b="0" i="0" u="none" dirty="0">
                <a:solidFill>
                  <a:srgbClr val="7C2D12"/>
                </a:solidFill>
                <a:latin typeface="Segoe UI" panose="020B0502040204020203" pitchFamily="34" charset="0"/>
              </a:rPr>
              <a:t> y zonas de </a:t>
            </a:r>
            <a:r>
              <a:rPr sz="1050" b="0" i="0" u="none" dirty="0" err="1">
                <a:solidFill>
                  <a:srgbClr val="7C2D12"/>
                </a:solidFill>
                <a:latin typeface="Segoe UI" panose="020B0502040204020203" pitchFamily="34" charset="0"/>
              </a:rPr>
              <a:t>alta</a:t>
            </a:r>
            <a:r>
              <a:rPr sz="1050" b="0" i="0" u="none" dirty="0">
                <a:solidFill>
                  <a:srgbClr val="7C2D12"/>
                </a:solidFill>
                <a:latin typeface="Segoe UI" panose="020B0502040204020203" pitchFamily="34" charset="0"/>
              </a:rPr>
              <a:t> </a:t>
            </a:r>
            <a:r>
              <a:rPr sz="1050" b="0" i="0" u="none" dirty="0" err="1">
                <a:solidFill>
                  <a:srgbClr val="7C2D12"/>
                </a:solidFill>
                <a:latin typeface="Segoe UI" panose="020B0502040204020203" pitchFamily="34" charset="0"/>
              </a:rPr>
              <a:t>tensión</a:t>
            </a:r>
            <a:r>
              <a:rPr sz="1050" b="0" i="0" u="none" dirty="0">
                <a:solidFill>
                  <a:srgbClr val="7C2D12"/>
                </a:solidFill>
                <a:latin typeface="Segoe UI" panose="020B0502040204020203" pitchFamily="34" charset="0"/>
              </a:rPr>
              <a:t> para </a:t>
            </a:r>
            <a:r>
              <a:rPr sz="1050" b="0" i="0" u="none" dirty="0" err="1">
                <a:solidFill>
                  <a:srgbClr val="7C2D12"/>
                </a:solidFill>
                <a:latin typeface="Segoe UI" panose="020B0502040204020203" pitchFamily="34" charset="0"/>
              </a:rPr>
              <a:t>prevenir</a:t>
            </a:r>
            <a:r>
              <a:rPr sz="1050" b="0" i="0" u="none" dirty="0">
                <a:solidFill>
                  <a:srgbClr val="7C2D12"/>
                </a:solidFill>
                <a:latin typeface="Segoe UI" panose="020B0502040204020203" pitchFamily="34" charset="0"/>
              </a:rPr>
              <a:t> </a:t>
            </a:r>
            <a:r>
              <a:rPr sz="1050" b="0" i="0" u="none" dirty="0" err="1">
                <a:solidFill>
                  <a:srgbClr val="7C2D12"/>
                </a:solidFill>
                <a:latin typeface="Segoe UI" panose="020B0502040204020203" pitchFamily="34" charset="0"/>
              </a:rPr>
              <a:t>atrapamiento</a:t>
            </a:r>
            <a:r>
              <a:rPr sz="1050" b="0" i="0" u="none" dirty="0">
                <a:solidFill>
                  <a:srgbClr val="7C2D12"/>
                </a:solidFill>
                <a:latin typeface="Segoe UI" panose="020B0502040204020203" pitchFamily="34" charset="0"/>
              </a:rPr>
              <a:t> de </a:t>
            </a:r>
            <a:r>
              <a:rPr sz="1050" b="0" i="0" u="none" dirty="0" err="1">
                <a:solidFill>
                  <a:srgbClr val="7C2D12"/>
                </a:solidFill>
                <a:latin typeface="Segoe UI" panose="020B0502040204020203" pitchFamily="34" charset="0"/>
              </a:rPr>
              <a:t>dedos</a:t>
            </a:r>
            <a:r>
              <a:rPr sz="1050" b="0" i="0" u="none" dirty="0">
                <a:solidFill>
                  <a:srgbClr val="7C2D12"/>
                </a:solidFill>
                <a:latin typeface="Segoe UI" panose="020B0502040204020203" pitchFamily="34" charset="0"/>
              </a:rPr>
              <a:t> o cables.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425" y="3314700"/>
            <a:ext cx="1790618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9A3412"/>
                </a:solidFill>
                <a:latin typeface="Segoe UI" panose="020B0502040204020203" pitchFamily="34" charset="0"/>
              </a:rPr>
              <a:t>Paro de Emergencia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4425" y="3657600"/>
            <a:ext cx="1886735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31407"/>
                </a:solidFill>
                <a:latin typeface="Segoe UI" panose="020B0502040204020203" pitchFamily="34" charset="0"/>
              </a:rPr>
              <a:t>Interrupción electromecánica.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4425" y="3952875"/>
            <a:ext cx="3022550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0" i="0" u="none" dirty="0" err="1">
                <a:solidFill>
                  <a:srgbClr val="7C2D12"/>
                </a:solidFill>
                <a:latin typeface="Segoe UI" panose="020B0502040204020203" pitchFamily="34" charset="0"/>
              </a:rPr>
              <a:t>Boton</a:t>
            </a:r>
            <a:r>
              <a:rPr sz="1050" b="0" i="0" u="none" dirty="0">
                <a:solidFill>
                  <a:srgbClr val="7C2D12"/>
                </a:solidFill>
                <a:latin typeface="Segoe UI" panose="020B0502040204020203" pitchFamily="34" charset="0"/>
              </a:rPr>
              <a:t> </a:t>
            </a:r>
            <a:r>
              <a:rPr sz="1050" b="0" i="0" u="none" dirty="0" err="1">
                <a:solidFill>
                  <a:srgbClr val="7C2D12"/>
                </a:solidFill>
                <a:latin typeface="Segoe UI" panose="020B0502040204020203" pitchFamily="34" charset="0"/>
              </a:rPr>
              <a:t>físic</a:t>
            </a:r>
            <a:r>
              <a:rPr lang="en-US" sz="1050" b="0" i="0" u="none" dirty="0" err="1">
                <a:solidFill>
                  <a:srgbClr val="7C2D12"/>
                </a:solidFill>
                <a:latin typeface="Segoe UI" panose="020B0502040204020203" pitchFamily="34" charset="0"/>
              </a:rPr>
              <a:t>o</a:t>
            </a:r>
            <a:r>
              <a:rPr sz="1050" b="0" i="0" u="none" dirty="0">
                <a:solidFill>
                  <a:srgbClr val="7C2D12"/>
                </a:solidFill>
                <a:latin typeface="Segoe UI" panose="020B0502040204020203" pitchFamily="34" charset="0"/>
              </a:rPr>
              <a:t> de corte </a:t>
            </a:r>
            <a:r>
              <a:rPr sz="1050" b="0" i="0" u="none" dirty="0" err="1">
                <a:solidFill>
                  <a:srgbClr val="7C2D12"/>
                </a:solidFill>
                <a:latin typeface="Segoe UI" panose="020B0502040204020203" pitchFamily="34" charset="0"/>
              </a:rPr>
              <a:t>instantáneo</a:t>
            </a:r>
            <a:r>
              <a:rPr sz="1050" b="0" i="0" u="none" dirty="0">
                <a:solidFill>
                  <a:srgbClr val="7C2D12"/>
                </a:solidFill>
                <a:latin typeface="Segoe UI" panose="020B0502040204020203" pitchFamily="34" charset="0"/>
              </a:rPr>
              <a:t> que </a:t>
            </a:r>
            <a:r>
              <a:rPr sz="1050" b="0" i="0" u="none" dirty="0" err="1">
                <a:solidFill>
                  <a:srgbClr val="7C2D12"/>
                </a:solidFill>
                <a:latin typeface="Segoe UI" panose="020B0502040204020203" pitchFamily="34" charset="0"/>
              </a:rPr>
              <a:t>desenergiza</a:t>
            </a:r>
            <a:r>
              <a:rPr sz="1050" b="0" i="0" u="none" dirty="0">
                <a:solidFill>
                  <a:srgbClr val="7C2D12"/>
                </a:solidFill>
                <a:latin typeface="Segoe UI" panose="020B0502040204020203" pitchFamily="34" charset="0"/>
              </a:rPr>
              <a:t> la </a:t>
            </a:r>
            <a:r>
              <a:rPr sz="1050" b="0" i="0" u="none" dirty="0" err="1">
                <a:solidFill>
                  <a:srgbClr val="7C2D12"/>
                </a:solidFill>
                <a:latin typeface="Segoe UI" panose="020B0502040204020203" pitchFamily="34" charset="0"/>
              </a:rPr>
              <a:t>línea</a:t>
            </a:r>
            <a:r>
              <a:rPr sz="1050" b="0" i="0" u="none" dirty="0">
                <a:solidFill>
                  <a:srgbClr val="7C2D12"/>
                </a:solidFill>
                <a:latin typeface="Segoe UI" panose="020B0502040204020203" pitchFamily="34" charset="0"/>
              </a:rPr>
              <a:t> de </a:t>
            </a:r>
            <a:r>
              <a:rPr sz="1050" b="0" i="0" u="none" dirty="0" err="1">
                <a:solidFill>
                  <a:srgbClr val="7C2D12"/>
                </a:solidFill>
                <a:latin typeface="Segoe UI" panose="020B0502040204020203" pitchFamily="34" charset="0"/>
              </a:rPr>
              <a:t>potencia</a:t>
            </a:r>
            <a:r>
              <a:rPr sz="1050" b="0" i="0" u="none" dirty="0">
                <a:solidFill>
                  <a:srgbClr val="7C2D12"/>
                </a:solidFill>
                <a:latin typeface="Segoe UI" panose="020B0502040204020203" pitchFamily="34" charset="0"/>
              </a:rPr>
              <a:t> y </a:t>
            </a:r>
            <a:r>
              <a:rPr sz="1050" b="0" i="0" u="none" dirty="0" err="1">
                <a:solidFill>
                  <a:srgbClr val="7C2D12"/>
                </a:solidFill>
                <a:latin typeface="Segoe UI" panose="020B0502040204020203" pitchFamily="34" charset="0"/>
              </a:rPr>
              <a:t>congela</a:t>
            </a:r>
            <a:r>
              <a:rPr sz="1050" b="0" i="0" u="none" dirty="0">
                <a:solidFill>
                  <a:srgbClr val="7C2D12"/>
                </a:solidFill>
                <a:latin typeface="Segoe UI" panose="020B0502040204020203" pitchFamily="34" charset="0"/>
              </a:rPr>
              <a:t> </a:t>
            </a:r>
            <a:r>
              <a:rPr sz="1050" b="0" i="0" u="none" dirty="0" err="1">
                <a:solidFill>
                  <a:srgbClr val="7C2D12"/>
                </a:solidFill>
                <a:latin typeface="Segoe UI" panose="020B0502040204020203" pitchFamily="34" charset="0"/>
              </a:rPr>
              <a:t>el</a:t>
            </a:r>
            <a:r>
              <a:rPr sz="1050" b="0" i="0" u="none" dirty="0">
                <a:solidFill>
                  <a:srgbClr val="7C2D12"/>
                </a:solidFill>
                <a:latin typeface="Segoe UI" panose="020B0502040204020203" pitchFamily="34" charset="0"/>
              </a:rPr>
              <a:t> </a:t>
            </a:r>
            <a:r>
              <a:rPr sz="1050" b="0" i="0" u="none" dirty="0" err="1">
                <a:solidFill>
                  <a:srgbClr val="7C2D12"/>
                </a:solidFill>
                <a:latin typeface="Segoe UI" panose="020B0502040204020203" pitchFamily="34" charset="0"/>
              </a:rPr>
              <a:t>manipulador</a:t>
            </a:r>
            <a:r>
              <a:rPr sz="1050" b="0" i="0" u="none" dirty="0">
                <a:solidFill>
                  <a:srgbClr val="7C2D12"/>
                </a:solidFill>
                <a:latin typeface="Segoe UI" panose="020B0502040204020203" pitchFamily="34" charset="0"/>
              </a:rPr>
              <a:t> de </a:t>
            </a:r>
            <a:r>
              <a:rPr sz="1050" b="0" i="0" u="none" dirty="0" err="1">
                <a:solidFill>
                  <a:srgbClr val="7C2D12"/>
                </a:solidFill>
                <a:latin typeface="Segoe UI" panose="020B0502040204020203" pitchFamily="34" charset="0"/>
              </a:rPr>
              <a:t>inmediato</a:t>
            </a:r>
            <a:r>
              <a:rPr sz="1050" b="0" i="0" u="none" dirty="0">
                <a:solidFill>
                  <a:srgbClr val="7C2D12"/>
                </a:solidFill>
                <a:latin typeface="Segoe UI" panose="020B0502040204020203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767012"/>
            <a:ext cx="2495550" cy="1838325"/>
          </a:xfrm>
          <a:prstGeom prst="roundRect">
            <a:avLst>
              <a:gd name="adj" fmla="val 6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3486150" y="2767012"/>
            <a:ext cx="2495550" cy="1838325"/>
          </a:xfrm>
          <a:prstGeom prst="roundRect">
            <a:avLst>
              <a:gd name="adj" fmla="val 6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6210300" y="2767012"/>
            <a:ext cx="2495550" cy="1838325"/>
          </a:xfrm>
          <a:prstGeom prst="roundRect">
            <a:avLst>
              <a:gd name="adj" fmla="val 6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8934450" y="2538412"/>
            <a:ext cx="2495550" cy="2295525"/>
          </a:xfrm>
          <a:prstGeom prst="roundRect">
            <a:avLst>
              <a:gd name="adj" fmla="val 49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62000" y="6162675"/>
            <a:ext cx="3080972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MX" sz="1050" b="0" i="0" u="none" dirty="0">
                <a:solidFill>
                  <a:srgbClr val="0F172A"/>
                </a:solidFill>
                <a:latin typeface="Segoe UI" panose="020B0502040204020203" pitchFamily="34" charset="0"/>
              </a:rPr>
              <a:t>Parámetros</a:t>
            </a:r>
            <a:r>
              <a:rPr sz="1050" b="0" i="0" u="none" dirty="0">
                <a:solidFill>
                  <a:srgbClr val="0F172A"/>
                </a:solidFill>
                <a:latin typeface="Segoe UI" panose="020B0502040204020203" pitchFamily="34" charset="0"/>
              </a:rPr>
              <a:t> de </a:t>
            </a:r>
            <a:r>
              <a:rPr sz="1050" b="0" i="0" u="none" dirty="0" err="1">
                <a:solidFill>
                  <a:srgbClr val="0F172A"/>
                </a:solidFill>
                <a:latin typeface="Segoe UI" panose="020B0502040204020203" pitchFamily="34" charset="0"/>
              </a:rPr>
              <a:t>Evaluación</a:t>
            </a:r>
            <a:r>
              <a:rPr sz="1050" b="0" i="0" u="none" dirty="0">
                <a:solidFill>
                  <a:srgbClr val="0F172A"/>
                </a:solidFill>
                <a:latin typeface="Segoe UI" panose="020B0502040204020203" pitchFamily="34" charset="0"/>
              </a:rPr>
              <a:t> y </a:t>
            </a:r>
            <a:r>
              <a:rPr sz="1050" b="0" i="0" u="none" dirty="0" err="1">
                <a:solidFill>
                  <a:srgbClr val="0F172A"/>
                </a:solidFill>
                <a:latin typeface="Segoe UI" panose="020B0502040204020203" pitchFamily="34" charset="0"/>
              </a:rPr>
              <a:t>Validación</a:t>
            </a:r>
            <a:r>
              <a:rPr sz="1050" b="0" i="0" u="none" dirty="0">
                <a:solidFill>
                  <a:srgbClr val="0F172A"/>
                </a:solidFill>
                <a:latin typeface="Segoe UI" panose="020B0502040204020203" pitchFamily="34" charset="0"/>
              </a:rPr>
              <a:t> Experimental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533400"/>
            <a:ext cx="2731517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Segoe UI" panose="020B0502040204020203" pitchFamily="34" charset="0"/>
              </a:rPr>
              <a:t>ARQUITECTURA Y CONCEPTOS · PUNTO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771525"/>
            <a:ext cx="5299656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Trebuchet MS" panose="020B0603020202020204" pitchFamily="34" charset="0"/>
              </a:rPr>
              <a:t>Criterios de Aceptación Medibles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3043237"/>
            <a:ext cx="1628651" cy="43858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284C7"/>
                </a:solidFill>
                <a:latin typeface="Trebuchet MS" panose="020B0603020202020204" pitchFamily="34" charset="0"/>
              </a:rPr>
              <a:t>1.5 - 5 kg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3576637"/>
            <a:ext cx="1517403" cy="1962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 panose="020B0502040204020203" pitchFamily="34" charset="0"/>
              </a:rPr>
              <a:t>Capacidad de Carga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3843337"/>
            <a:ext cx="21907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Segoe UI" panose="020B0502040204020203" pitchFamily="34" charset="0"/>
              </a:rPr>
              <a:t>Mantenimiento de postura estática horizontal sin salto de pasos en los motores.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6175" y="3043237"/>
            <a:ext cx="1051570" cy="43858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284C7"/>
                </a:solidFill>
                <a:latin typeface="Trebuchet MS" panose="020B0603020202020204" pitchFamily="34" charset="0"/>
              </a:rPr>
              <a:t>FS =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6175" y="3576637"/>
            <a:ext cx="1537216" cy="1962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 panose="020B0502040204020203" pitchFamily="34" charset="0"/>
              </a:rPr>
              <a:t>Factor de Seguridad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6175" y="3843337"/>
            <a:ext cx="21907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Segoe UI" panose="020B0502040204020203" pitchFamily="34" charset="0"/>
              </a:rPr>
              <a:t>Margen dinámico para soportar aceleraciones y desaceleraciones sin fatiga de bandas.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0325" y="3043237"/>
            <a:ext cx="2322752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2400" b="1" i="0" u="none" dirty="0">
                <a:solidFill>
                  <a:srgbClr val="0284C7"/>
                </a:solidFill>
                <a:latin typeface="Trebuchet MS" panose="020B0603020202020204" pitchFamily="34" charset="0"/>
              </a:rPr>
              <a:t>Final de Carrera</a:t>
            </a:r>
            <a:endParaRPr sz="2400" b="1" i="0" u="none" dirty="0">
              <a:solidFill>
                <a:srgbClr val="0284C7"/>
              </a:solidFill>
              <a:latin typeface="Trebuchet MS" panose="020B0603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10325" y="3576637"/>
            <a:ext cx="1594347" cy="1962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 dirty="0" err="1">
                <a:solidFill>
                  <a:srgbClr val="0F172A"/>
                </a:solidFill>
                <a:latin typeface="Segoe UI" panose="020B0502040204020203" pitchFamily="34" charset="0"/>
              </a:rPr>
              <a:t>Límites</a:t>
            </a:r>
            <a:r>
              <a:rPr sz="1275" b="1" i="0" u="none" dirty="0">
                <a:solidFill>
                  <a:srgbClr val="0F172A"/>
                </a:solidFill>
                <a:latin typeface="Segoe UI" panose="020B0502040204020203" pitchFamily="34" charset="0"/>
              </a:rPr>
              <a:t> </a:t>
            </a:r>
            <a:r>
              <a:rPr sz="1275" b="1" i="0" u="none" dirty="0" err="1">
                <a:solidFill>
                  <a:srgbClr val="0F172A"/>
                </a:solidFill>
                <a:latin typeface="Segoe UI" panose="020B0502040204020203" pitchFamily="34" charset="0"/>
              </a:rPr>
              <a:t>por</a:t>
            </a:r>
            <a:r>
              <a:rPr sz="1275" b="1" i="0" u="none" dirty="0">
                <a:solidFill>
                  <a:srgbClr val="0F172A"/>
                </a:solidFill>
                <a:latin typeface="Segoe UI" panose="020B0502040204020203" pitchFamily="34" charset="0"/>
              </a:rPr>
              <a:t> Software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0325" y="3843337"/>
            <a:ext cx="21907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Segoe UI" panose="020B0502040204020203" pitchFamily="34" charset="0"/>
              </a:rPr>
              <a:t>Detención controlada por código antes de colisión, sin impacto en topes duros.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4475" y="2814637"/>
            <a:ext cx="2190750" cy="8771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MX" sz="2850" b="1" i="0" u="none" dirty="0">
                <a:solidFill>
                  <a:srgbClr val="0284C7"/>
                </a:solidFill>
                <a:latin typeface="Trebuchet MS" panose="020B0603020202020204" pitchFamily="34" charset="0"/>
              </a:rPr>
              <a:t>Operación</a:t>
            </a:r>
            <a:r>
              <a:rPr lang="en-US" sz="2850" b="1" i="0" u="none" dirty="0">
                <a:solidFill>
                  <a:srgbClr val="0284C7"/>
                </a:solidFill>
                <a:latin typeface="Trebuchet MS" panose="020B0603020202020204" pitchFamily="34" charset="0"/>
              </a:rPr>
              <a:t> Segura</a:t>
            </a:r>
            <a:endParaRPr sz="2850" b="1" i="0" u="none" dirty="0">
              <a:solidFill>
                <a:srgbClr val="0284C7"/>
              </a:solidFill>
              <a:latin typeface="Trebuchet MS" panose="020B0603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34475" y="3805237"/>
            <a:ext cx="1578702" cy="1962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 dirty="0" err="1">
                <a:solidFill>
                  <a:srgbClr val="0F172A"/>
                </a:solidFill>
                <a:latin typeface="Segoe UI" panose="020B0502040204020203" pitchFamily="34" charset="0"/>
              </a:rPr>
              <a:t>Seguridad</a:t>
            </a:r>
            <a:r>
              <a:rPr sz="1275" b="1" i="0" u="none" dirty="0">
                <a:solidFill>
                  <a:srgbClr val="0F172A"/>
                </a:solidFill>
                <a:latin typeface="Segoe UI" panose="020B0502040204020203" pitchFamily="34" charset="0"/>
              </a:rPr>
              <a:t> </a:t>
            </a:r>
            <a:r>
              <a:rPr sz="1275" b="1" i="0" u="none" dirty="0" err="1">
                <a:solidFill>
                  <a:srgbClr val="0F172A"/>
                </a:solidFill>
                <a:latin typeface="Segoe UI" panose="020B0502040204020203" pitchFamily="34" charset="0"/>
              </a:rPr>
              <a:t>Operativa</a:t>
            </a:r>
            <a:endParaRPr sz="1275" b="1" i="0" u="none" dirty="0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134475" y="4071937"/>
            <a:ext cx="21907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Segoe UI" panose="020B0502040204020203" pitchFamily="34" charset="0"/>
              </a:rPr>
              <a:t>Carcasas protectoras en el total de correas síncronas y corte por seta física.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405062"/>
            <a:ext cx="5105400" cy="1295400"/>
          </a:xfrm>
          <a:prstGeom prst="roundRect">
            <a:avLst>
              <a:gd name="adj" fmla="val 294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3871912"/>
            <a:ext cx="5105400" cy="1095375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2000" y="2405062"/>
            <a:ext cx="38100" cy="12954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62000" y="3871912"/>
            <a:ext cx="38100" cy="10953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324600" y="2261412"/>
            <a:ext cx="5105400" cy="28495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6162675"/>
            <a:ext cx="3803926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Segoe UI" panose="020B0502040204020203" pitchFamily="34" charset="0"/>
              </a:rPr>
              <a:t>Disposición General de Eslabones y Mecanismos de Transmisión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533400"/>
            <a:ext cx="2731517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Segoe UI" panose="020B0502040204020203" pitchFamily="34" charset="0"/>
              </a:rPr>
              <a:t>ARQUITECTURA Y CONCEPTOS · PUNTO 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771525"/>
            <a:ext cx="6008824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Trebuchet MS" panose="020B0603020202020204" pitchFamily="34" charset="0"/>
              </a:rPr>
              <a:t>Boceto y Concepto General del Brazo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9650" y="2614612"/>
            <a:ext cx="2884059" cy="21929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Segoe UI" panose="020B0502040204020203" pitchFamily="34" charset="0"/>
              </a:rPr>
              <a:t>Topología Antropomórfica 6-DOF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9650" y="2890837"/>
            <a:ext cx="4743450" cy="39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Segoe UI" panose="020B0502040204020203" pitchFamily="34" charset="0"/>
              </a:rPr>
              <a:t>Brazo articulado de 6 grados de libertad con planta motriz pesada concentrada en la base inferior y poleas concéntricas en los pivotes.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9650" y="4081462"/>
            <a:ext cx="2457211" cy="21929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Segoe UI" panose="020B0502040204020203" pitchFamily="34" charset="0"/>
              </a:rPr>
              <a:t>Desacoplamiento Estructural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9650" y="4357687"/>
            <a:ext cx="47434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Segoe UI" panose="020B0502040204020203" pitchFamily="34" charset="0"/>
              </a:rPr>
              <a:t>El chasis móvil consta de eslabones tubulares livianos diseñados en 3D para alojar rodamientos y las trayectorias de las bandas.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619375"/>
            <a:ext cx="3403550" cy="2133600"/>
          </a:xfrm>
          <a:prstGeom prst="roundRect">
            <a:avLst>
              <a:gd name="adj" fmla="val 53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94150" y="2619375"/>
            <a:ext cx="3403550" cy="2133600"/>
          </a:xfrm>
          <a:prstGeom prst="roundRect">
            <a:avLst>
              <a:gd name="adj" fmla="val 53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26300" y="2619375"/>
            <a:ext cx="3403550" cy="2133600"/>
          </a:xfrm>
          <a:prstGeom prst="roundRect">
            <a:avLst>
              <a:gd name="adj" fmla="val 53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2933700"/>
            <a:ext cx="29273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275" y="2933700"/>
            <a:ext cx="29273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4425" y="2933700"/>
            <a:ext cx="29273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6162675"/>
            <a:ext cx="2168863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Segoe UI" panose="020B0502040204020203" pitchFamily="34" charset="0"/>
              </a:rPr>
              <a:t>Interacción Funcional entre Módulos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533400"/>
            <a:ext cx="2731517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Segoe UI" panose="020B0502040204020203" pitchFamily="34" charset="0"/>
              </a:rPr>
              <a:t>ARQUITECTURA Y CONCEPTOS · PUNTO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771525"/>
            <a:ext cx="7718460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Trebuchet MS" panose="020B0603020202020204" pitchFamily="34" charset="0"/>
              </a:rPr>
              <a:t>Subsistemas Mecánico, Electrónico y de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3314700"/>
            <a:ext cx="867225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egoe UI" panose="020B0502040204020203" pitchFamily="34" charset="0"/>
              </a:rPr>
              <a:t>Mecánico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125" y="3657600"/>
            <a:ext cx="1865895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Segoe UI" panose="020B0502040204020203" pitchFamily="34" charset="0"/>
              </a:rPr>
              <a:t>Eslabones y poleas síncronas.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125" y="3952875"/>
            <a:ext cx="30225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Segoe UI" panose="020B0502040204020203" pitchFamily="34" charset="0"/>
              </a:rPr>
              <a:t>Estructuras de PETG/Nylon con posible refuerzo de aluminio, baleros 608ZZ y pernos métricos templados.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2275" y="3314700"/>
            <a:ext cx="1004314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egoe UI" panose="020B0502040204020203" pitchFamily="34" charset="0"/>
              </a:rPr>
              <a:t>Electrónico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2275" y="3657600"/>
            <a:ext cx="1812997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Segoe UI" panose="020B0502040204020203" pitchFamily="34" charset="0"/>
              </a:rPr>
              <a:t>Potencia e inventario NEMA.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2275" y="3952875"/>
            <a:ext cx="30225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Segoe UI" panose="020B0502040204020203" pitchFamily="34" charset="0"/>
              </a:rPr>
              <a:t>Drivers DM860/TMC alimentados a 36V/24V, seta de paro de corte directo y motores paso a paso existentes.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425" y="3314700"/>
            <a:ext cx="677301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egoe UI" panose="020B0502040204020203" pitchFamily="34" charset="0"/>
              </a:rPr>
              <a:t>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4425" y="3657600"/>
            <a:ext cx="1885131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Segoe UI" panose="020B0502040204020203" pitchFamily="34" charset="0"/>
              </a:rPr>
              <a:t>Cinemática y límites software.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4425" y="3952875"/>
            <a:ext cx="30225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Segoe UI" panose="020B0502040204020203" pitchFamily="34" charset="0"/>
              </a:rPr>
              <a:t>Cálculo de trayectorias, rampas de aceleración y supervisión de envolvente sin depender de topes duros.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614612"/>
            <a:ext cx="3403550" cy="2143125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94150" y="2614612"/>
            <a:ext cx="3403550" cy="2143125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26300" y="2614612"/>
            <a:ext cx="3403550" cy="2143125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62000" y="2614612"/>
            <a:ext cx="340355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94150" y="2614612"/>
            <a:ext cx="340355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26300" y="2614612"/>
            <a:ext cx="340355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947987"/>
            <a:ext cx="2946350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750" y="2947987"/>
            <a:ext cx="2946350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4900" y="2947987"/>
            <a:ext cx="2946350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6162675"/>
            <a:ext cx="3121047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Segoe UI" panose="020B0502040204020203" pitchFamily="34" charset="0"/>
              </a:rPr>
              <a:t>Configuración de Actuación y Transmisión Aprobada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533400"/>
            <a:ext cx="2731517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Segoe UI" panose="020B0502040204020203" pitchFamily="34" charset="0"/>
              </a:rPr>
              <a:t>ARQUITECTURA Y CONCEPTOS · PUNTO 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771525"/>
            <a:ext cx="6900094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Trebuchet MS" panose="020B0603020202020204" pitchFamily="34" charset="0"/>
              </a:rPr>
              <a:t>Solución Seleccionada para el Brazo 6-DOF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600" y="3328987"/>
            <a:ext cx="2129622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egoe UI" panose="020B0502040204020203" pitchFamily="34" charset="0"/>
              </a:rPr>
              <a:t>Base &amp; Hombro (J1, J2)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600" y="3671887"/>
            <a:ext cx="2188100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Segoe UI" panose="020B0502040204020203" pitchFamily="34" charset="0"/>
              </a:rPr>
              <a:t>NEMA 34 + Reducción por Poleas.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0600" y="3967162"/>
            <a:ext cx="304160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Segoe UI" panose="020B0502040204020203" pitchFamily="34" charset="0"/>
              </a:rPr>
              <a:t>Montaje fijo en pedestal con rodamientos axiales; entrega más de 46 N·m en el hombro con FS=3.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2750" y="3328987"/>
            <a:ext cx="2342693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egoe UI" panose="020B0502040204020203" pitchFamily="34" charset="0"/>
              </a:rPr>
              <a:t>Articulación del Codo (J3)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2750" y="3671887"/>
            <a:ext cx="2324354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Segoe UI" panose="020B0502040204020203" pitchFamily="34" charset="0"/>
              </a:rPr>
              <a:t>NEMA 17 + Planetaria 10:1 + Banda.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2750" y="3967162"/>
            <a:ext cx="30416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Segoe UI" panose="020B0502040204020203" pitchFamily="34" charset="0"/>
              </a:rPr>
              <a:t>Segunda etapa síncrona para alcanzar 26 N·m, absorbiendo flexión mediante poleas dobles en pivote.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4900" y="3328987"/>
            <a:ext cx="2668166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egoe UI" panose="020B0502040204020203" pitchFamily="34" charset="0"/>
              </a:rPr>
              <a:t>Muñeca &amp; Gripper (J4, J5, J6)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4900" y="3671887"/>
            <a:ext cx="2082301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Segoe UI" panose="020B0502040204020203" pitchFamily="34" charset="0"/>
              </a:rPr>
              <a:t>NEMA 17 + Planetarias en Codo.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4900" y="3967162"/>
            <a:ext cx="30416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Segoe UI" panose="020B0502040204020203" pitchFamily="34" charset="0"/>
              </a:rPr>
              <a:t>Actúan como contrapeso dinámico; transmiten par hacia el efector final con correas GT2 en tramos rectos.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305050"/>
            <a:ext cx="10668000" cy="2762250"/>
          </a:xfrm>
          <a:prstGeom prst="roundRect">
            <a:avLst>
              <a:gd name="adj" fmla="val 413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00125" y="2543175"/>
          <a:ext cx="10191748" cy="2286000"/>
        </p:xfrm>
        <a:graphic>
          <a:graphicData uri="http://schemas.openxmlformats.org/drawingml/2006/table">
            <a:tbl>
              <a:tblPr/>
              <a:tblGrid>
                <a:gridCol w="2396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6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00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9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Criterio Técnico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DC2626"/>
                          </a:solidFill>
                          <a:latin typeface="Segoe UI" panose="020B0502040204020203" pitchFamily="34" charset="0"/>
                        </a:rPr>
                        <a:t>Motores Directos Colgados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6A34A"/>
                          </a:solidFill>
                          <a:latin typeface="Segoe UI" panose="020B0502040204020203" pitchFamily="34" charset="0"/>
                        </a:rPr>
                        <a:t>Motores en Base + Bandas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284C7"/>
                          </a:solidFill>
                          <a:latin typeface="Segoe UI" panose="020B0502040204020203" pitchFamily="34" charset="0"/>
                        </a:rPr>
                        <a:t>Ventaja Obtenida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Segoe UI" panose="020B0502040204020203" pitchFamily="34" charset="0"/>
                        </a:rPr>
                        <a:t>Masa Móvil Suspendida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DC2626"/>
                          </a:solidFill>
                          <a:latin typeface="Segoe UI" panose="020B0502040204020203" pitchFamily="34" charset="0"/>
                        </a:rPr>
                        <a:t>~4.5 kg (motores + cables)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6A34A"/>
                          </a:solidFill>
                          <a:latin typeface="Segoe UI" panose="020B0502040204020203" pitchFamily="34" charset="0"/>
                        </a:rPr>
                        <a:t>~1.2 kg (estructura hueca)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Segoe UI" panose="020B0502040204020203" pitchFamily="34" charset="0"/>
                        </a:rPr>
                        <a:t>-73% de inercia gravitatoria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Segoe UI" panose="020B0502040204020203" pitchFamily="34" charset="0"/>
                        </a:rPr>
                        <a:t>Torque Requerido en Hombro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DC2626"/>
                          </a:solidFill>
                          <a:latin typeface="Segoe UI" panose="020B0502040204020203" pitchFamily="34" charset="0"/>
                        </a:rPr>
                        <a:t>59.5 N·m a 80 N·m (FS=3)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6A34A"/>
                          </a:solidFill>
                          <a:latin typeface="Segoe UI" panose="020B0502040204020203" pitchFamily="34" charset="0"/>
                        </a:rPr>
                        <a:t>46.4 N·m (FS=3)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Segoe UI" panose="020B0502040204020203" pitchFamily="34" charset="0"/>
                        </a:rPr>
                        <a:t>Factible con NEMA 34 comercial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Segoe UI" panose="020B0502040204020203" pitchFamily="34" charset="0"/>
                        </a:rPr>
                        <a:t>Uso de Inventario Existente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DC2626"/>
                          </a:solidFill>
                          <a:latin typeface="Segoe UI" panose="020B0502040204020203" pitchFamily="34" charset="0"/>
                        </a:rPr>
                        <a:t>Incompatible (falta torque)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6A34A"/>
                          </a:solidFill>
                          <a:latin typeface="Segoe UI" panose="020B0502040204020203" pitchFamily="34" charset="0"/>
                        </a:rPr>
                        <a:t>100% de motores aprovechados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Segoe UI" panose="020B0502040204020203" pitchFamily="34" charset="0"/>
                        </a:rPr>
                        <a:t>Cero gasto en nuevos actuadores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Segoe UI" panose="020B0502040204020203" pitchFamily="34" charset="0"/>
                        </a:rPr>
                        <a:t>Seguridad y Protección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Segoe UI" panose="020B0502040204020203" pitchFamily="34" charset="0"/>
                        </a:rPr>
                        <a:t>Topes físicos con impacto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6A34A"/>
                          </a:solidFill>
                          <a:latin typeface="Segoe UI" panose="020B0502040204020203" pitchFamily="34" charset="0"/>
                        </a:rPr>
                        <a:t>Software + Poleas cubiertas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Segoe UI" panose="020B0502040204020203" pitchFamily="34" charset="0"/>
                        </a:rPr>
                        <a:t>Sin colisiones destructivas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Segoe UI" panose="020B0502040204020203" pitchFamily="34" charset="0"/>
                        </a:rPr>
                        <a:t>Riesgo Térmico en Plásticos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DC2626"/>
                          </a:solidFill>
                          <a:latin typeface="Segoe UI" panose="020B0502040204020203" pitchFamily="34" charset="0"/>
                        </a:rPr>
                        <a:t>Alto (motores calientan PETG)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6A34A"/>
                          </a:solidFill>
                          <a:latin typeface="Segoe UI" panose="020B0502040204020203" pitchFamily="34" charset="0"/>
                        </a:rPr>
                        <a:t>Nulo (actuadores en chasis base)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Segoe UI" panose="020B0502040204020203" pitchFamily="34" charset="0"/>
                        </a:rPr>
                        <a:t>Preserva rigidez dimensional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0" y="6162675"/>
            <a:ext cx="3249287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Segoe UI" panose="020B0502040204020203" pitchFamily="34" charset="0"/>
              </a:rPr>
              <a:t>Matriz Comparativa de Ingeniería y Decisión de Diseño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33400"/>
            <a:ext cx="2731517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Segoe UI" panose="020B0502040204020203" pitchFamily="34" charset="0"/>
              </a:rPr>
              <a:t>ARQUITECTURA Y CONCEPTOS · PUNTO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71525"/>
            <a:ext cx="5822620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Trebuchet MS" panose="020B0603020202020204" pitchFamily="34" charset="0"/>
              </a:rPr>
              <a:t>Justificación Técnica y Comparativa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486025"/>
            <a:ext cx="3276600" cy="942975"/>
          </a:xfrm>
          <a:prstGeom prst="roundRect">
            <a:avLst>
              <a:gd name="adj" fmla="val 10101"/>
            </a:avLst>
          </a:prstGeom>
          <a:solidFill>
            <a:srgbClr val="F8FAFC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457700" y="2486025"/>
            <a:ext cx="3276600" cy="942975"/>
          </a:xfrm>
          <a:prstGeom prst="roundRect">
            <a:avLst>
              <a:gd name="adj" fmla="val 10101"/>
            </a:avLst>
          </a:prstGeom>
          <a:solidFill>
            <a:srgbClr val="F8FAFC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53400" y="2486025"/>
            <a:ext cx="3276600" cy="942975"/>
          </a:xfrm>
          <a:prstGeom prst="roundRect">
            <a:avLst>
              <a:gd name="adj" fmla="val 10101"/>
            </a:avLst>
          </a:prstGeom>
          <a:solidFill>
            <a:srgbClr val="F8FAFC"/>
          </a:solidFill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62000" y="3943350"/>
            <a:ext cx="3276600" cy="942975"/>
          </a:xfrm>
          <a:prstGeom prst="roundRect">
            <a:avLst>
              <a:gd name="adj" fmla="val 10101"/>
            </a:avLst>
          </a:prstGeom>
          <a:solidFill>
            <a:srgbClr val="F8FAFC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457700" y="3943350"/>
            <a:ext cx="3276600" cy="942975"/>
          </a:xfrm>
          <a:prstGeom prst="roundRect">
            <a:avLst>
              <a:gd name="adj" fmla="val 10101"/>
            </a:avLst>
          </a:prstGeom>
          <a:solidFill>
            <a:srgbClr val="F8FAFC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153400" y="3943350"/>
            <a:ext cx="3276600" cy="942975"/>
          </a:xfrm>
          <a:prstGeom prst="roundRect">
            <a:avLst>
              <a:gd name="adj" fmla="val 10101"/>
            </a:avLst>
          </a:prstGeom>
          <a:solidFill>
            <a:srgbClr val="F8FAFC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1950" y="2871787"/>
            <a:ext cx="15240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7650" y="2871787"/>
            <a:ext cx="152400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9325" y="3600450"/>
            <a:ext cx="13335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1950" y="4329112"/>
            <a:ext cx="15240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7650" y="4329112"/>
            <a:ext cx="152400" cy="171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2000" y="6162675"/>
            <a:ext cx="2938305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Segoe UI" panose="020B0502040204020203" pitchFamily="34" charset="0"/>
              </a:rPr>
              <a:t>Flujo de Potencia, Señales de Control y Seguridad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533400"/>
            <a:ext cx="2731517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Segoe UI" panose="020B0502040204020203" pitchFamily="34" charset="0"/>
              </a:rPr>
              <a:t>ARQUITECTURA Y CONCEPTOS · PUNTO 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771525"/>
            <a:ext cx="7450438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Trebuchet MS" panose="020B0603020202020204" pitchFamily="34" charset="0"/>
              </a:rPr>
              <a:t>Diagrama de Arquitectura General del Sistema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16994" y="2676525"/>
            <a:ext cx="966611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284C7"/>
                </a:solidFill>
                <a:latin typeface="Segoe UI" panose="020B0502040204020203" pitchFamily="34" charset="0"/>
              </a:rPr>
              <a:t>HOST / INTERFAZ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36725" y="2857500"/>
            <a:ext cx="1527149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Segoe UI" panose="020B0502040204020203" pitchFamily="34" charset="0"/>
              </a:rPr>
              <a:t>Control por Software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172" y="3086100"/>
            <a:ext cx="2058256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Segoe UI" panose="020B0502040204020203" pitchFamily="34" charset="0"/>
              </a:rPr>
              <a:t>Cinemática Inversa y Límites Virtuales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4304" y="2676525"/>
            <a:ext cx="1383392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284C7"/>
                </a:solidFill>
                <a:latin typeface="Segoe UI" panose="020B0502040204020203" pitchFamily="34" charset="0"/>
              </a:rPr>
              <a:t>PROCESADOR EMBEBIDO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89684" y="2857500"/>
            <a:ext cx="141263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Segoe UI" panose="020B0502040204020203" pitchFamily="34" charset="0"/>
              </a:rPr>
              <a:t>Generador Step/Dir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07936" y="3086100"/>
            <a:ext cx="1776127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Segoe UI" panose="020B0502040204020203" pitchFamily="34" charset="0"/>
              </a:rPr>
              <a:t>Rampas Suaves y Enclavamiento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9202" y="2676525"/>
            <a:ext cx="1384995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EA580C"/>
                </a:solidFill>
                <a:latin typeface="Segoe UI" panose="020B0502040204020203" pitchFamily="34" charset="0"/>
              </a:rPr>
              <a:t>SEGURIDAD &amp; POTENCIA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6186" y="2857500"/>
            <a:ext cx="1411027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Segoe UI" panose="020B0502040204020203" pitchFamily="34" charset="0"/>
              </a:rPr>
              <a:t>Seta Paro &amp; Drivers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46115" y="3086100"/>
            <a:ext cx="1691169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Segoe UI" panose="020B0502040204020203" pitchFamily="34" charset="0"/>
              </a:rPr>
              <a:t>Corte Físico y Alimentación DC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1053" y="4133850"/>
            <a:ext cx="1758494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F172A"/>
                </a:solidFill>
                <a:latin typeface="Segoe UI" panose="020B0502040204020203" pitchFamily="34" charset="0"/>
              </a:rPr>
              <a:t>PLANTA MOTRIZ (INVENTARIO)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72926" y="4314825"/>
            <a:ext cx="1654747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Segoe UI" panose="020B0502040204020203" pitchFamily="34" charset="0"/>
              </a:rPr>
              <a:t>Motores NEMA 34 / 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79562" y="4543425"/>
            <a:ext cx="1641475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Segoe UI" panose="020B0502040204020203" pitchFamily="34" charset="0"/>
              </a:rPr>
              <a:t>Cajas Planetarias 10:1 en 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52206" y="4133850"/>
            <a:ext cx="1487587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F172A"/>
                </a:solidFill>
                <a:latin typeface="Segoe UI" panose="020B0502040204020203" pitchFamily="34" charset="0"/>
              </a:rPr>
              <a:t>TRANSMISIÓN PROTEGIDA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32659" y="4314825"/>
            <a:ext cx="192668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Segoe UI" panose="020B0502040204020203" pitchFamily="34" charset="0"/>
              </a:rPr>
              <a:t>Poleas &amp; Bandas Cubiertas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78468" y="4543425"/>
            <a:ext cx="1635063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Segoe UI" panose="020B0502040204020203" pitchFamily="34" charset="0"/>
              </a:rPr>
              <a:t>Baleros 608ZZ en Ejes de Giro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7862" y="4133850"/>
            <a:ext cx="1107676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F172A"/>
                </a:solidFill>
                <a:latin typeface="Segoe UI" panose="020B0502040204020203" pitchFamily="34" charset="0"/>
              </a:rPr>
              <a:t>ESTRUCTURA 6-DOF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17202" y="4314825"/>
            <a:ext cx="194899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Segoe UI" panose="020B0502040204020203" pitchFamily="34" charset="0"/>
              </a:rPr>
              <a:t>PETG / Aluminio &amp; Gripper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55733" y="4543425"/>
            <a:ext cx="1671933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Segoe UI" panose="020B0502040204020203" pitchFamily="34" charset="0"/>
              </a:rPr>
              <a:t>Manipulación con Factor FS=3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43250" y="4106167"/>
            <a:ext cx="5905500" cy="714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143250" y="4106167"/>
            <a:ext cx="59055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1504057"/>
            <a:ext cx="533400" cy="533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5987" y="1656457"/>
            <a:ext cx="200025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32528" y="2266057"/>
            <a:ext cx="8726941" cy="52578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140"/>
              </a:lnSpc>
            </a:pPr>
            <a:r>
              <a:rPr sz="3450" b="1" i="0" u="none">
                <a:solidFill>
                  <a:srgbClr val="F8FAFC"/>
                </a:solidFill>
                <a:latin typeface="Trebuchet MS" panose="020B0603020202020204" pitchFamily="34" charset="0"/>
              </a:rPr>
              <a:t>Proyecto Brazo Robótico Articulado 6-DOF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1625" y="2944117"/>
            <a:ext cx="9048750" cy="5597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Segoe UI" panose="020B0502040204020203" pitchFamily="34" charset="0"/>
              </a:rPr>
              <a:t>Integración mecatrónica completa: transición a bandas síncronas, cálculos dinámicos con FS=3, seguridad por software y aprovechamiento total del inventario.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53828" y="5163442"/>
            <a:ext cx="228434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CBD5E1"/>
                </a:solidFill>
                <a:latin typeface="Segoe UI" panose="020B0502040204020203" pitchFamily="34" charset="0"/>
              </a:rPr>
              <a:t>Sesión de Preguntas y Respuestas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17066" y="4382392"/>
            <a:ext cx="662040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38BDF8"/>
                </a:solidFill>
                <a:latin typeface="Segoe UI" panose="020B0502040204020203" pitchFamily="34" charset="0"/>
              </a:rPr>
              <a:t>6 DOF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83028" y="4658617"/>
            <a:ext cx="1130117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Segoe UI" panose="020B0502040204020203" pitchFamily="34" charset="0"/>
              </a:rPr>
              <a:t>Grados de Libertad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2451" y="4382392"/>
            <a:ext cx="672620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38BDF8"/>
                </a:solidFill>
                <a:latin typeface="Segoe UI" panose="020B0502040204020203" pitchFamily="34" charset="0"/>
              </a:rPr>
              <a:t>FS =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2444" y="4658617"/>
            <a:ext cx="1192634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Segoe UI" panose="020B0502040204020203" pitchFamily="34" charset="0"/>
              </a:rPr>
              <a:t>Factor de Seguridad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5875" y="4382392"/>
            <a:ext cx="599523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38BDF8"/>
                </a:solidFill>
                <a:latin typeface="Segoe UI" panose="020B0502040204020203" pitchFamily="34" charset="0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9206" y="4658617"/>
            <a:ext cx="1312860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Segoe UI" panose="020B0502040204020203" pitchFamily="34" charset="0"/>
              </a:rPr>
              <a:t>Motores en Inventario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2619" y="4382392"/>
            <a:ext cx="973087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38BDF8"/>
                </a:solidFill>
                <a:latin typeface="Segoe UI" panose="020B0502040204020203" pitchFamily="34" charset="0"/>
              </a:rPr>
              <a:t>Software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5857" y="4658617"/>
            <a:ext cx="966610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Segoe UI" panose="020B0502040204020203" pitchFamily="34" charset="0"/>
              </a:rPr>
              <a:t>Límites Virtuales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" y="84772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71500" y="1609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1609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90600"/>
            <a:ext cx="857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62125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1578061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00000"/>
                </a:solidFill>
                <a:latin typeface="Segoe UI" panose="020B0502040204020203" pitchFamily="34" charset="0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1033462"/>
            <a:ext cx="565699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00000"/>
                </a:solidFill>
                <a:latin typeface="Segoe UI" panose="020B0502040204020203" pitchFamily="34" charset="0"/>
              </a:rPr>
              <a:t>https://d2t1xqejof9utc.cloudfront.net/screenshots/pics/2c4000bd30abd1d5cc2cf179f11e90cb/large.jpg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1233487"/>
            <a:ext cx="175644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Segoe UI" panose="020B0502040204020203" pitchFamily="34" charset="0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Segoe UI" panose="020B0502040204020203" pitchFamily="34" charset="0"/>
              </a:rPr>
              <a:t>blog.grabcad.com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1804987"/>
            <a:ext cx="6197209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00000"/>
                </a:solidFill>
                <a:latin typeface="Segoe UI" panose="020B0502040204020203" pitchFamily="34" charset="0"/>
              </a:rPr>
              <a:t>https://vxb.com/cdn/shop/files/nema23-stepper-motor-planetary-gearbox-front.jpg?v=1770448649&amp;width=480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2005012"/>
            <a:ext cx="1096006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Segoe UI" panose="020B0502040204020203" pitchFamily="34" charset="0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Segoe UI" panose="020B0502040204020203" pitchFamily="34" charset="0"/>
              </a:rPr>
              <a:t>vxb.com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2325</Words>
  <Application>Microsoft Office PowerPoint</Application>
  <PresentationFormat>Widescreen</PresentationFormat>
  <Paragraphs>297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Aptos</vt:lpstr>
      <vt:lpstr>Trebuchet MS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MARQUEZ ALEMAN, DIEGO</dc:creator>
  <cp:keywords/>
  <dc:description>generated using python-pptx</dc:description>
  <cp:lastModifiedBy>MARQUEZ ALEMAN, DIEGO</cp:lastModifiedBy>
  <cp:revision>4</cp:revision>
  <dcterms:created xsi:type="dcterms:W3CDTF">2013-01-27T09:14:16Z</dcterms:created>
  <dcterms:modified xsi:type="dcterms:W3CDTF">2026-10-21T20:59:55Z</dcterms:modified>
  <cp:category/>
</cp:coreProperties>
</file>
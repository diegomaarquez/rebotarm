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Inter"/>
      <p:bold r:id="rId25"/>
    </p:embeddedFont>
    <p:embeddedFont>
      <p:font typeface="Space Grotesk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7EDF0-6DA1-4EB6-8DCF-AA27D34B0CD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DA0FA-8DFD-47DF-BB73-F02ACB8C7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DA0FA-8DFD-47DF-BB73-F02ACB8C77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51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781675"/>
            <a:ext cx="10668000" cy="466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62000" y="57816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305925" y="6019800"/>
            <a:ext cx="1428750" cy="2286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829925" y="6019800"/>
            <a:ext cx="600075" cy="22860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143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0625" y="642937"/>
            <a:ext cx="51340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38BDF8"/>
                </a:solidFill>
                <a:latin typeface="Space Grotesk"/>
              </a:rPr>
              <a:t>INTEGRACIÓN MECATRÓNICA · PROYECTO FINAL 6-DOF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16609"/>
            <a:ext cx="11430000" cy="5476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 dirty="0" err="1">
                <a:solidFill>
                  <a:srgbClr val="F8FAFC"/>
                </a:solidFill>
                <a:latin typeface="Space Grotesk"/>
              </a:rPr>
              <a:t>Brazo</a:t>
            </a:r>
            <a:r>
              <a:rPr sz="375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3750" b="1" i="0" u="none" dirty="0" err="1">
                <a:solidFill>
                  <a:srgbClr val="F8FAFC"/>
                </a:solidFill>
                <a:latin typeface="Space Grotesk"/>
              </a:rPr>
              <a:t>Robótico</a:t>
            </a:r>
            <a:r>
              <a:rPr sz="375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3750" b="1" i="0" u="none" dirty="0" err="1">
                <a:solidFill>
                  <a:srgbClr val="F8FAFC"/>
                </a:solidFill>
                <a:latin typeface="Space Grotesk"/>
              </a:rPr>
              <a:t>Articulado</a:t>
            </a:r>
            <a:r>
              <a:rPr sz="3750" b="1" i="0" u="none" dirty="0">
                <a:solidFill>
                  <a:srgbClr val="F8FAFC"/>
                </a:solidFill>
                <a:latin typeface="Space Grotesk"/>
              </a:rPr>
              <a:t> 6-DOF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02581"/>
            <a:ext cx="79057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Transición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Actuación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Directa a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Transmisión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por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Poleas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Síncronas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Reducción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Inercia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y </a:t>
            </a:r>
            <a:r>
              <a:rPr sz="1650" b="0" i="0" u="none" dirty="0" err="1">
                <a:solidFill>
                  <a:srgbClr val="94A3B8"/>
                </a:solidFill>
                <a:latin typeface="Inter"/>
              </a:rPr>
              <a:t>Cálculos</a:t>
            </a:r>
            <a:r>
              <a:rPr sz="1650" b="0" i="0" u="none" dirty="0">
                <a:solidFill>
                  <a:srgbClr val="94A3B8"/>
                </a:solidFill>
                <a:latin typeface="Inter"/>
              </a:rPr>
              <a:t> con FS=3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43612"/>
            <a:ext cx="5726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"/>
              </a:rPr>
              <a:t>Especificación Técnica de los 22 Puntos de Ingeniería Mecatrónica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0225" y="6057900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Payload 1.5 kg - 5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057900"/>
            <a:ext cx="466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Inter"/>
              </a:rPr>
              <a:t>FS =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C1FEC9-8A67-2DA5-0A1F-BDA7F3F79737}"/>
              </a:ext>
            </a:extLst>
          </p:cNvPr>
          <p:cNvSpPr txBox="1"/>
          <p:nvPr/>
        </p:nvSpPr>
        <p:spPr>
          <a:xfrm>
            <a:off x="438150" y="3085493"/>
            <a:ext cx="26828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dirty="0" err="1">
                <a:solidFill>
                  <a:srgbClr val="00B0F0"/>
                </a:solidFill>
                <a:latin typeface="Space Grotesk"/>
              </a:rPr>
              <a:t>D</a:t>
            </a:r>
            <a:r>
              <a:rPr lang="en-US" sz="1800" b="1" i="0" u="none" dirty="0" err="1">
                <a:solidFill>
                  <a:srgbClr val="F8FAFC"/>
                </a:solidFill>
                <a:latin typeface="Space Grotesk"/>
              </a:rPr>
              <a:t>ispositivo</a:t>
            </a:r>
            <a:r>
              <a:rPr lang="en-US" sz="1800" b="1" i="0" u="none" dirty="0">
                <a:solidFill>
                  <a:srgbClr val="F8FAFC"/>
                </a:solidFill>
                <a:latin typeface="Space Grotesk"/>
              </a:rPr>
              <a:t> </a:t>
            </a:r>
          </a:p>
          <a:p>
            <a:pPr algn="ctr"/>
            <a:r>
              <a:rPr lang="en-US" b="1" dirty="0">
                <a:solidFill>
                  <a:srgbClr val="00B0F0"/>
                </a:solidFill>
                <a:latin typeface="Space Grotesk"/>
              </a:rPr>
              <a:t>U</a:t>
            </a:r>
            <a:r>
              <a:rPr lang="en-US" b="1" dirty="0">
                <a:solidFill>
                  <a:srgbClr val="F8FAFC"/>
                </a:solidFill>
                <a:latin typeface="Space Grotesk"/>
              </a:rPr>
              <a:t>niversal </a:t>
            </a:r>
          </a:p>
          <a:p>
            <a:pPr algn="ctr"/>
            <a:r>
              <a:rPr lang="en-US" b="1" dirty="0">
                <a:solidFill>
                  <a:srgbClr val="F8FAFC"/>
                </a:solidFill>
                <a:latin typeface="Space Grotesk"/>
              </a:rPr>
              <a:t>de </a:t>
            </a:r>
          </a:p>
          <a:p>
            <a:pPr algn="ctr"/>
            <a:r>
              <a:rPr lang="en-US" b="1" dirty="0" err="1">
                <a:solidFill>
                  <a:srgbClr val="00B0F0"/>
                </a:solidFill>
                <a:latin typeface="Space Grotesk"/>
              </a:rPr>
              <a:t>M</a:t>
            </a:r>
            <a:r>
              <a:rPr lang="en-US" b="1" dirty="0" err="1">
                <a:solidFill>
                  <a:srgbClr val="F8FAFC"/>
                </a:solidFill>
                <a:latin typeface="Space Grotesk"/>
              </a:rPr>
              <a:t>anipulación</a:t>
            </a:r>
            <a:r>
              <a:rPr lang="en-US" b="1" dirty="0">
                <a:solidFill>
                  <a:srgbClr val="F8FAFC"/>
                </a:solidFill>
                <a:latin typeface="Space Grotesk"/>
              </a:rPr>
              <a:t> </a:t>
            </a:r>
          </a:p>
          <a:p>
            <a:pPr algn="ctr"/>
            <a:r>
              <a:rPr lang="en-US" sz="1800" b="1" i="0" u="none" dirty="0">
                <a:solidFill>
                  <a:srgbClr val="00B0F0"/>
                </a:solidFill>
                <a:latin typeface="Space Grotesk"/>
              </a:rPr>
              <a:t>E</a:t>
            </a:r>
            <a:r>
              <a:rPr lang="en-US" sz="1800" b="1" i="0" u="none" dirty="0">
                <a:solidFill>
                  <a:srgbClr val="F8FAFC"/>
                </a:solidFill>
                <a:latin typeface="Space Grotesk"/>
              </a:rPr>
              <a:t>xperimental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F07127-2147-8D19-5D51-018C8E954996}"/>
              </a:ext>
            </a:extLst>
          </p:cNvPr>
          <p:cNvSpPr txBox="1"/>
          <p:nvPr/>
        </p:nvSpPr>
        <p:spPr>
          <a:xfrm>
            <a:off x="2330450" y="3638088"/>
            <a:ext cx="187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Space Grotesk"/>
              </a:rPr>
              <a:t>DUM-E</a:t>
            </a:r>
            <a:endParaRPr lang="en-US" sz="1800" b="1" i="0" u="none" dirty="0">
              <a:solidFill>
                <a:srgbClr val="F8FAFC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05062"/>
            <a:ext cx="5124450" cy="109537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671887"/>
            <a:ext cx="5124450" cy="12954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40506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671887"/>
            <a:ext cx="38100" cy="129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77000" y="1978025"/>
            <a:ext cx="5124450" cy="3416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Fase I · Diagnóstico Inicial y Planteamiento de Reingeniería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DEFINICIÓN DEL PROYECTO · PUNTO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Definición del Problema y Necesidad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614612"/>
            <a:ext cx="3721340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 dirty="0" err="1">
                <a:solidFill>
                  <a:srgbClr val="0F172A"/>
                </a:solidFill>
                <a:latin typeface="Inter"/>
              </a:rPr>
              <a:t>Limitación</a:t>
            </a:r>
            <a:r>
              <a:rPr sz="1425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425" b="1" i="0" u="none" dirty="0" err="1">
                <a:solidFill>
                  <a:srgbClr val="0F172A"/>
                </a:solidFill>
                <a:latin typeface="Inter"/>
              </a:rPr>
              <a:t>Mecánica</a:t>
            </a:r>
            <a:r>
              <a:rPr sz="1425" b="1" i="0" u="none" dirty="0">
                <a:solidFill>
                  <a:srgbClr val="0F172A"/>
                </a:solidFill>
                <a:latin typeface="Inter"/>
              </a:rPr>
              <a:t> de </a:t>
            </a:r>
            <a:r>
              <a:rPr lang="en-US" sz="1425" b="1" i="0" u="none" dirty="0" err="1">
                <a:solidFill>
                  <a:srgbClr val="0F172A"/>
                </a:solidFill>
                <a:latin typeface="Inter"/>
              </a:rPr>
              <a:t>motores</a:t>
            </a:r>
            <a:r>
              <a:rPr sz="1425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lang="en-US" sz="1425" b="1" dirty="0" err="1">
                <a:solidFill>
                  <a:srgbClr val="0F172A"/>
                </a:solidFill>
                <a:latin typeface="Inter"/>
              </a:rPr>
              <a:t>c</a:t>
            </a:r>
            <a:r>
              <a:rPr sz="1425" b="1" i="0" u="none" dirty="0" err="1">
                <a:solidFill>
                  <a:srgbClr val="0F172A"/>
                </a:solidFill>
                <a:latin typeface="Inter"/>
              </a:rPr>
              <a:t>onvencionales</a:t>
            </a:r>
            <a:endParaRPr sz="1425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9650" y="2890837"/>
            <a:ext cx="4762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El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diseño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base con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servomotores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125" b="0" i="0" u="none" dirty="0">
                <a:solidFill>
                  <a:srgbClr val="475569"/>
                </a:solidFill>
                <a:latin typeface="Inter"/>
              </a:rPr>
              <a:t>o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motores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directos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distribuidos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colapsa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al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exigir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manipulación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con un factor de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seguridad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FS=3.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881437"/>
            <a:ext cx="61257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Inter"/>
              </a:rPr>
              <a:t>Momento Flector Crítico en Eslabones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157662"/>
            <a:ext cx="47625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Cargar 1.5 kg a 5 kg en máxima extensión horizontal genera torques de más de 60 N·m en el hombro, inviables con motores directos colgados.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75470"/>
            <a:ext cx="4648646" cy="2221259"/>
          </a:xfrm>
          <a:prstGeom prst="roundRect">
            <a:avLst>
              <a:gd name="adj" fmla="val 51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3546" y="2257425"/>
            <a:ext cx="5676453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90884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71" y="2590800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Metodología de Desarrollo Mecatrónico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DEFINICIÓN DEL PROYECTO · PUNTOS 2 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Objetivos General y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308895"/>
            <a:ext cx="4115246" cy="1173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1E293B"/>
                </a:solidFill>
                <a:latin typeface="Inter"/>
              </a:rPr>
              <a:t>Desarrollar e implementar un brazo robótico articulado de 6-DOF con transmisión remota por poleas síncronas, garantizando manipulación estable con FS=3 aprovechando motores e inventario existente.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2889795"/>
            <a:ext cx="22252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6534"/>
                </a:solidFill>
                <a:latin typeface="Space Grotesk"/>
              </a:rPr>
              <a:t>Objetivo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771" y="2571750"/>
            <a:ext cx="287535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Objetivos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871" y="2971800"/>
            <a:ext cx="5143053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Cinemática y Torques: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Dimensionar articulaciones considerando peso propio y FS=3.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7871" y="3452812"/>
            <a:ext cx="5143053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Transmisión por Poleas: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Reubicar actuadores pesados a la base para minimizar inercia.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7871" y="3933825"/>
            <a:ext cx="5143053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Selección</a:t>
            </a:r>
            <a:r>
              <a:rPr sz="1125" b="1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Materiales</a:t>
            </a:r>
            <a:r>
              <a:rPr sz="1125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Comparar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PETG vs Nylon 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y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125" dirty="0" err="1">
                <a:solidFill>
                  <a:srgbClr val="334155"/>
                </a:solidFill>
                <a:latin typeface="Inter"/>
              </a:rPr>
              <a:t>opcionalmente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refuerzos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aluminio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7871" y="4414837"/>
            <a:ext cx="5143053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Seguridad por Software: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Programar límites de carrera digitales y parada de emergencia.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79650" y="2695575"/>
            <a:ext cx="34035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911800" y="2695575"/>
            <a:ext cx="34035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79650" y="2695575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11800" y="2695575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0" y="3028950"/>
            <a:ext cx="29463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00" y="3028950"/>
            <a:ext cx="29463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Contexto de Interacción Operativa y Académica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DEFINICIÓN DEL PROYECTO · PUNTO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Usuarios y Actores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8250" y="3409950"/>
            <a:ext cx="6642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Inter"/>
              </a:rPr>
              <a:t>Docente</a:t>
            </a:r>
            <a:endParaRPr sz="15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08250" y="3752850"/>
            <a:ext cx="3682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Valida el cumplimiento funcional.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0400" y="3409950"/>
            <a:ext cx="84484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Inter"/>
              </a:rPr>
              <a:t>Estudiante</a:t>
            </a:r>
            <a:endParaRPr sz="15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0400" y="3752850"/>
            <a:ext cx="128721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125" dirty="0" err="1">
                <a:solidFill>
                  <a:srgbClr val="475569"/>
                </a:solidFill>
                <a:latin typeface="Inter"/>
              </a:rPr>
              <a:t>Desarrolla</a:t>
            </a:r>
            <a:r>
              <a:rPr lang="en-US" sz="1125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125" dirty="0" err="1">
                <a:solidFill>
                  <a:srgbClr val="475569"/>
                </a:solidFill>
                <a:latin typeface="Inter"/>
              </a:rPr>
              <a:t>el</a:t>
            </a:r>
            <a:r>
              <a:rPr lang="en-US" sz="1125" dirty="0">
                <a:solidFill>
                  <a:srgbClr val="475569"/>
                </a:solidFill>
                <a:latin typeface="Inter"/>
              </a:rPr>
              <a:t> Proyecto</a:t>
            </a:r>
            <a:endParaRPr lang="es-ES" sz="1125" b="0" i="0" u="none" dirty="0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40471"/>
            <a:ext cx="5162550" cy="2691407"/>
          </a:xfrm>
          <a:prstGeom prst="roundRect">
            <a:avLst>
              <a:gd name="adj" fmla="val 4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228850"/>
            <a:ext cx="5162550" cy="2914650"/>
          </a:xfrm>
          <a:prstGeom prst="roundRect">
            <a:avLst>
              <a:gd name="adj" fmla="val 39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6325" y="4165103"/>
            <a:ext cx="4533900" cy="552450"/>
          </a:xfrm>
          <a:prstGeom prst="roundRect">
            <a:avLst>
              <a:gd name="adj" fmla="val 1034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673846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2562225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Matriz Funcional y Operativa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REQUISITOS FUNCIONALES · PUNTOS 5 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Funciones Principales y Secundarias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073896"/>
            <a:ext cx="4629150" cy="938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1E293B"/>
                </a:solidFill>
                <a:latin typeface="Inter"/>
              </a:rPr>
              <a:t>Manipulación espacial de 6 grados de libertad para tareas de Pick and Place, posicionando cargas útiles de 1.5 kg con capacidad estructural ampliada hacia 5 kg sin salto de pasos ni fatiga.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9225" y="2654796"/>
            <a:ext cx="232529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Función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5" y="4279403"/>
            <a:ext cx="43243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Inter"/>
              </a:rPr>
              <a:t>Interpolación angular coordinada y cinemática inversa en tiempo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675" y="2543175"/>
            <a:ext cx="313789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Funciones Secundarias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2943225"/>
            <a:ext cx="46291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Homíng y Calibración: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Secuencia automática para fijar cero de coordenadas.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443287"/>
            <a:ext cx="46291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Límites Virtuales por Software: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Control estricto de envolvente sin topes físicos.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3943350"/>
            <a:ext cx="46291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Parada de Emergencia: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Corte y deshabilitación inmediata por seguridad.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443412"/>
            <a:ext cx="46291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Protección en Poleas: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Cubiertas cerradas para evitar atrapamiento durante el giro.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05050"/>
            <a:ext cx="51816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05050"/>
            <a:ext cx="51816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60032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600325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Balance de Flujos Energéticos y de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REQUISITOS FUNCIONALES · PUNTOS 7 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Entradas y Salidas Principales del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2581275"/>
            <a:ext cx="579572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Entradas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29432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Energía Eléctrica: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Líneas de 24V y 36V/48V DC para etapa de potencia.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4385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Consignas de Movimiento: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Pulsos lógicos Step/Dir y comandos de trayectoria.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9338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Señal de Seguridad: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Interrupción física directa desde seta de paro de emergencia.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4291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Carga Externa: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Pieza de manipulación con masa admisible de 1.5 kg a 5 kg.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2581275"/>
            <a:ext cx="5400675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Salidas Principales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9432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Movimiento 6-DOF: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Rotación coordinada en las 6 articulaciones del manipulador.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4385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Par Transmitido: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Torque multiplicado en hombro y codo mediante bandas.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9338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Telemetría y Estado: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Posición angular estimada y validación de software.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429125"/>
            <a:ext cx="4724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Disipación Térmica: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Calor disipado en controladores fijados a la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81250"/>
            <a:ext cx="5162550" cy="2581275"/>
          </a:xfrm>
          <a:prstGeom prst="roundRect">
            <a:avLst>
              <a:gd name="adj" fmla="val 442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114550"/>
            <a:ext cx="5162550" cy="3114675"/>
          </a:xfrm>
          <a:prstGeom prst="roundRect">
            <a:avLst>
              <a:gd name="adj" fmla="val 36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676525"/>
            <a:ext cx="190500" cy="190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894406"/>
              </p:ext>
            </p:extLst>
          </p:nvPr>
        </p:nvGraphicFramePr>
        <p:xfrm>
          <a:off x="6543675" y="2752725"/>
          <a:ext cx="4610098" cy="1914525"/>
        </p:xfrm>
        <a:graphic>
          <a:graphicData uri="http://schemas.openxmlformats.org/drawingml/2006/table">
            <a:tbl>
              <a:tblPr/>
              <a:tblGrid>
                <a:gridCol w="1404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Articulación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Torque Nominal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Torque con FS=3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Diagnóstico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2 (Hombro)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~</a:t>
                      </a:r>
                      <a:r>
                        <a:rPr lang="en-US"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30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  <a:r>
                        <a:rPr lang="en-US"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2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N·m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90</a:t>
                      </a:r>
                      <a:r>
                        <a:rPr sz="10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.</a:t>
                      </a:r>
                      <a:r>
                        <a:rPr lang="en-US" sz="10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6</a:t>
                      </a:r>
                      <a:r>
                        <a:rPr sz="1050" b="1" i="0" u="none" dirty="0">
                          <a:solidFill>
                            <a:srgbClr val="DC2626"/>
                          </a:solidFill>
                          <a:latin typeface="Inte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DC2626"/>
                          </a:solidFill>
                          <a:latin typeface="Inter"/>
                        </a:rPr>
                        <a:t>N·m</a:t>
                      </a:r>
                      <a:endParaRPr sz="1050" b="1" i="0" u="none" dirty="0">
                        <a:solidFill>
                          <a:srgbClr val="DC2626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Inter"/>
                        </a:rPr>
                        <a:t>Colapso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3 (Codo)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~10.4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31.3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C2626"/>
                          </a:solidFill>
                          <a:latin typeface="Inter"/>
                        </a:rPr>
                        <a:t>Excede motor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4 y 5 (Muñeca)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~2.96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8.9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97706"/>
                          </a:solidFill>
                          <a:latin typeface="Inter"/>
                        </a:rPr>
                        <a:t>Al límite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1 (Base)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~5.0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15.0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16A34A"/>
                          </a:solidFill>
                          <a:latin typeface="Inter"/>
                        </a:rPr>
                        <a:t>Cumple</a:t>
                      </a:r>
                      <a:endParaRPr sz="1050" b="0" i="0" u="none" dirty="0">
                        <a:solidFill>
                          <a:srgbClr val="16A34A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Conclusión: Los motores colgados obligan a actuadores industriales de costo prohibitivo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Inter"/>
              </a:rPr>
              <a:t>EVOLUCIÓN TÉCNICA · POR QUÉ DESCARTAMOS MOTORES DIRECTOS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Fallo Físico de Motores Directos en Articulaciones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2657475"/>
            <a:ext cx="5770721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Inter"/>
              </a:rPr>
              <a:t>Masa Parásita y Brazo de Palanca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019425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Colocar un motor en cada eje añade entre 1.5 kg y 3.5 kg de masa inerte a lo largo de los eslabones móviles.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552825"/>
            <a:ext cx="4705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7F1D1D"/>
                </a:solidFill>
                <a:latin typeface="Inter"/>
              </a:rPr>
              <a:t>Efecto acumulativo:</a:t>
            </a:r>
            <a:r>
              <a:rPr sz="1125" b="0" i="0" u="none">
                <a:solidFill>
                  <a:srgbClr val="7F1D1D"/>
                </a:solidFill>
                <a:latin typeface="Inter"/>
              </a:rPr>
              <a:t> El motor del hombro gastaba el 70% de su torque disponible únicamente en levantar a los otros motores colgados del brazo.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286250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 err="1">
                <a:solidFill>
                  <a:srgbClr val="7F1D1D"/>
                </a:solidFill>
                <a:latin typeface="Inter"/>
              </a:rPr>
              <a:t>Cálculo</a:t>
            </a:r>
            <a:r>
              <a:rPr sz="1125" b="1" i="0" u="none" dirty="0">
                <a:solidFill>
                  <a:srgbClr val="7F1D1D"/>
                </a:solidFill>
                <a:latin typeface="Inter"/>
              </a:rPr>
              <a:t> con FS=3: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La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demanda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en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el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hombro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superaba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los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lang="en-US" sz="1125" b="0" i="0" u="none" dirty="0">
                <a:solidFill>
                  <a:srgbClr val="7F1D1D"/>
                </a:solidFill>
                <a:latin typeface="Inter"/>
              </a:rPr>
              <a:t>8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0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N·m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a </a:t>
            </a:r>
            <a:r>
              <a:rPr lang="en-US" sz="1125" b="0" i="0" u="none" dirty="0">
                <a:solidFill>
                  <a:srgbClr val="7F1D1D"/>
                </a:solidFill>
                <a:latin typeface="Inter"/>
              </a:rPr>
              <a:t>10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0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N·m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,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haciendo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inviable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cualquier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actuador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7F1D1D"/>
                </a:solidFill>
                <a:latin typeface="Inter"/>
              </a:rPr>
              <a:t>económico</a:t>
            </a:r>
            <a:r>
              <a:rPr sz="1125" b="0" i="0" u="none" dirty="0">
                <a:solidFill>
                  <a:srgbClr val="7F1D1D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390775"/>
            <a:ext cx="56483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Cálculo Original de Torque (Motores Colgados)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4800600"/>
            <a:ext cx="56483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El peso propio del brazo alcanzaba 4.5 kg solo en motores suspendidos.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81262"/>
            <a:ext cx="5162550" cy="238125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033587"/>
            <a:ext cx="5162550" cy="3276600"/>
          </a:xfrm>
          <a:prstGeom prst="roundRect">
            <a:avLst>
              <a:gd name="adj" fmla="val 34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776537"/>
            <a:ext cx="190500" cy="1905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43675" y="2671762"/>
          <a:ext cx="4610099" cy="2076450"/>
        </p:xfrm>
        <a:graphic>
          <a:graphicData uri="http://schemas.openxmlformats.org/drawingml/2006/table">
            <a:tbl>
              <a:tblPr/>
              <a:tblGrid>
                <a:gridCol w="1272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Articulación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Antes (Directo)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Con Bandas (FS=3)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284C7"/>
                          </a:solidFill>
                          <a:latin typeface="Inter"/>
                        </a:rPr>
                        <a:t>Configuración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1 (Base)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15.0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~9.0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Reductor 10:1 + 2.5:1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2 (Hombro)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59.5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46.4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NEMA 34 + Poleas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3 (Codo)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31.3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25.9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Reductor 10:1 + 6.7:1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Joint 4 y 5 (Muñeca)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8.9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8.3 N·m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Reductor 10:1 + 2.2:1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Validación Teórica de la Transmisión Síncrona Desacoplada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Inter"/>
              </a:rPr>
              <a:t>EVOLUCIÓN TÉCNICA · TRANSICIÓN A POLEAS SÍNCRONAS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Recálculo Dinámico: Motores en Base por Bandas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2757487"/>
            <a:ext cx="5770721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Inter"/>
              </a:rPr>
              <a:t>Reducción Drástica de Masa Móvil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119437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Al relocalizar los motores a la base, los eslabones móviles pasan a pesar solo ~1.2 kg de estructura hueca.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652837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4532D"/>
                </a:solidFill>
                <a:latin typeface="Inter"/>
              </a:rPr>
              <a:t>Torque en Hombro reducido:</a:t>
            </a:r>
            <a:r>
              <a:rPr sz="1125" b="0" i="0" u="none">
                <a:solidFill>
                  <a:srgbClr val="14532D"/>
                </a:solidFill>
                <a:latin typeface="Inter"/>
              </a:rPr>
              <a:t> De 59.5 N·m a 46.4 N·m con FS=3 (ahorro neto superior al 25% en torque).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186237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4532D"/>
                </a:solidFill>
                <a:latin typeface="Inter"/>
              </a:rPr>
              <a:t>Multiplicación por poleas:</a:t>
            </a:r>
            <a:r>
              <a:rPr sz="1125" b="0" i="0" u="none">
                <a:solidFill>
                  <a:srgbClr val="14532D"/>
                </a:solidFill>
                <a:latin typeface="Inter"/>
              </a:rPr>
              <a:t> Permite relaciones de 2.5:1 a 6.7:1 combinando los reductores 10:1 en inventario.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309812"/>
            <a:ext cx="56483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Comparativa de Torques con Motores en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4881562"/>
            <a:ext cx="56483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Joint 4 y 5 comparten torque por geometría esférica y peor caso a 90°.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22387"/>
            <a:ext cx="5162550" cy="1198066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072854"/>
            <a:ext cx="5162550" cy="1198066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423320"/>
            <a:ext cx="5162550" cy="1198066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722387"/>
            <a:ext cx="38100" cy="119806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3072854"/>
            <a:ext cx="38100" cy="119806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423320"/>
            <a:ext cx="38100" cy="119806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862137"/>
            <a:ext cx="516255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862137"/>
            <a:ext cx="516255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Esquema Cinemático de Ejes y Poleas Locas en Articulaciones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DESARROLLO DE TRANSMISIÓN · CINEMÁTICA DE POLEAS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71525"/>
            <a:ext cx="114300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Ejes Coincidentes y Ruteo de Bandas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1912887"/>
            <a:ext cx="62257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Principio de Distancia Fija entre Centros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170062"/>
            <a:ext cx="48387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Una sola banda continua no puede cruzar una articulación si el ángulo varía. El eje de pivote de cada articulación aloja poleas dobles locas con rodamientos independientes.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263354"/>
            <a:ext cx="62257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Multiplicación en la Base vs Eslabones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520529"/>
            <a:ext cx="48387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La reducción de par se realiza con poleas grandes en la base o codo, y viaja hacia los eslabones superiores con poleas gemelas ligeras (20T a 20T) para no ensanchar la muñeca.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613820"/>
            <a:ext cx="62257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Ubicación de Actuadores de Muñeca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870995"/>
            <a:ext cx="483870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Los NEMA 17 de muñeca se montan tras el codo como contrapeso dinámico, permitiendo tramos rectos de banda hacia la muñeca sin torsión axial.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33625"/>
            <a:ext cx="5162550" cy="2705100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238375"/>
            <a:ext cx="5162550" cy="289560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Parámetros de Masa Inerte vs. Momento Dinámico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RESTRICCIONES DE DISEÑO · PUNTOS 9 Y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Restricciones Dimensionales y de Masa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2647950"/>
            <a:ext cx="59507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Envolvente Cinemática de 6 Ejes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067050"/>
            <a:ext cx="4629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Alcance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Horizontal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Extendido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0.77 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m.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6325" y="3619500"/>
            <a:ext cx="371242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Eslabón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1 (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Hombro-Codo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):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Longitud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200" b="0" i="0" u="none" dirty="0" err="1">
                <a:solidFill>
                  <a:srgbClr val="334155"/>
                </a:solidFill>
                <a:latin typeface="Inter"/>
              </a:rPr>
              <a:t>planteada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264 mm.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981450"/>
            <a:ext cx="370377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Eslabón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2 (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Codo-Muñeca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):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Longitud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200" b="0" i="0" u="none" dirty="0" err="1">
                <a:solidFill>
                  <a:srgbClr val="334155"/>
                </a:solidFill>
                <a:latin typeface="Inter"/>
              </a:rPr>
              <a:t>planteada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242 mm.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343400"/>
            <a:ext cx="4629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Inter"/>
              </a:rPr>
              <a:t>Espacio de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Instalación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Mesa: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Base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apoyo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1775" y="2552700"/>
            <a:ext cx="56102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Distribución de Masa Estructural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2971800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Masa Móvil Suspendida: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Apenas 1.2 kg de piezas huecas y poleas.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524250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Masa Concentrada en Base: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Motores pesados y baleros descansando en mesa.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076700"/>
            <a:ext cx="56102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Carga Nominal Operativa: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1.5 kg útil con factor estricto FS=3.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438650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Capacidad Estructural: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Dimensionado cinemático para admitir hasta 5 kg.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11499"/>
            <a:ext cx="3403550" cy="1949201"/>
          </a:xfrm>
          <a:prstGeom prst="roundRect">
            <a:avLst>
              <a:gd name="adj" fmla="val 586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711499"/>
            <a:ext cx="3403550" cy="1949201"/>
          </a:xfrm>
          <a:prstGeom prst="roundRect">
            <a:avLst>
              <a:gd name="adj" fmla="val 586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711499"/>
            <a:ext cx="3403550" cy="1949201"/>
          </a:xfrm>
          <a:prstGeom prst="roundRect">
            <a:avLst>
              <a:gd name="adj" fmla="val 586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987724"/>
            <a:ext cx="30035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2987724"/>
            <a:ext cx="30035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325" y="2987724"/>
            <a:ext cx="30035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Evaluación Estructural de Polímeros y Metales Ligeros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RESTRICCIONES DE DISEÑO · PUNTO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Materiales de Fabricación: Selección y Restricciones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311574"/>
            <a:ext cx="39420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66534"/>
                </a:solidFill>
                <a:latin typeface="Inter"/>
              </a:rPr>
              <a:t>PETG / Nylon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625899"/>
            <a:ext cx="3754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4532D"/>
                </a:solidFill>
                <a:latin typeface="Inter"/>
              </a:rPr>
              <a:t>En consideración activa.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83074"/>
            <a:ext cx="3098750" cy="50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PETG con 8 perímetros y 100% relleno para poleas y carcasas. Nylon evaluado por su alta tenacidad ante fricción mecánica en engranes.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3311574"/>
            <a:ext cx="39420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Inter"/>
              </a:rPr>
              <a:t>TPU Prohibido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3625899"/>
            <a:ext cx="3754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F1D1D"/>
                </a:solidFill>
                <a:latin typeface="Inter"/>
              </a:rPr>
              <a:t>Inviable en transmisión.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175" y="3883074"/>
            <a:ext cx="3098750" cy="50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Su elasticidad causaría flexión de dientes, pérdida de tensión y salto de pasos inmediato bajo torque. Solo admitido en almohadillas del gripper.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6325" y="3311574"/>
            <a:ext cx="39420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369A1"/>
                </a:solidFill>
                <a:latin typeface="Inter"/>
              </a:rPr>
              <a:t>Refuerzo de Aluminio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6325" y="3625899"/>
            <a:ext cx="3754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75985"/>
                </a:solidFill>
                <a:latin typeface="Inter"/>
              </a:rPr>
              <a:t>Rigidez complementaria.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6325" y="3883074"/>
            <a:ext cx="3098750" cy="501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Consideración de placas o perfiles de aluminio en eslabones largos para evitar deflexión elástica ante momentos flectores de 46 N·m.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19350"/>
            <a:ext cx="516255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419350"/>
            <a:ext cx="516255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Diagrama de Distribución de Potencia y Señales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RESTRICCIONES DE DISEÑO · PUNTO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Alimentación y Consumo Energético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2733675"/>
            <a:ext cx="59507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Suministro y Niveles de Voltaje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1527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Etapa de Alta Potencia: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36V a 48V DC para drivers industriales DM860 (NEMA 34).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70522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Etapa Secundaria: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24V DC regulado para controladores de NEMA 17 con planetarias.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2576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Lógica de Control: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5V / 3.3V con aislamiento óptico contra ruido electromagnético.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733675"/>
            <a:ext cx="56102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Corriente y Gestión Térmica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527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Demanda Simultánea: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Consumo pico acotado a 12A – 15A en aceleración.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70522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Disipación Concentrada: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Drivers y fuente montados en la base con ventilación forzada.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257675"/>
            <a:ext cx="46291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Aislamiento en Eslabones: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Motores alejados de piezas plásticas, previniendo ablandamiento.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86025"/>
            <a:ext cx="4648646" cy="2400300"/>
          </a:xfrm>
          <a:prstGeom prst="roundRect">
            <a:avLst>
              <a:gd name="adj" fmla="val 476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3546" y="2247900"/>
            <a:ext cx="5676453" cy="2876550"/>
          </a:xfrm>
          <a:prstGeom prst="roundRect">
            <a:avLst>
              <a:gd name="adj" fmla="val 39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819400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71" y="2581275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Estrategia de Optimización Presupuestal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RESTRICCIONES DE DISEÑO · PUNTOS 13 Y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Presupuesto e Inventario de 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3219450"/>
            <a:ext cx="4115246" cy="602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14532D"/>
                </a:solidFill>
                <a:latin typeface="Inter"/>
              </a:rPr>
              <a:t>Ya </a:t>
            </a:r>
            <a:r>
              <a:rPr sz="1125" b="1" i="0" u="none" dirty="0" err="1">
                <a:solidFill>
                  <a:srgbClr val="14532D"/>
                </a:solidFill>
                <a:latin typeface="Inter"/>
              </a:rPr>
              <a:t>disponibles</a:t>
            </a:r>
            <a:r>
              <a:rPr sz="1125" b="1" i="0" u="none" dirty="0">
                <a:solidFill>
                  <a:srgbClr val="14532D"/>
                </a:solidFill>
                <a:latin typeface="Inter"/>
              </a:rPr>
              <a:t> al 100%: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Todos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los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motores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a pasos (NEMA 34 y NEMA 17) y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los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motorreductores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planetarios</a:t>
            </a:r>
            <a:r>
              <a:rPr lang="en-US" sz="1125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10:1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están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físicamente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en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14532D"/>
                </a:solidFill>
                <a:latin typeface="Inter"/>
              </a:rPr>
              <a:t>inventari</a:t>
            </a:r>
            <a:r>
              <a:rPr lang="en-US" sz="1125" b="0" i="0" u="none" dirty="0" err="1">
                <a:solidFill>
                  <a:srgbClr val="14532D"/>
                </a:solidFill>
                <a:latin typeface="Inter"/>
              </a:rPr>
              <a:t>o</a:t>
            </a:r>
            <a:r>
              <a:rPr lang="en-US" sz="1125" b="0" i="0" u="none" dirty="0">
                <a:solidFill>
                  <a:srgbClr val="14532D"/>
                </a:solidFill>
                <a:latin typeface="Inter"/>
              </a:rPr>
              <a:t> y </a:t>
            </a:r>
            <a:r>
              <a:rPr lang="en-US" sz="1125" b="0" i="0" u="none" dirty="0" err="1">
                <a:solidFill>
                  <a:srgbClr val="14532D"/>
                </a:solidFill>
                <a:latin typeface="Inter"/>
              </a:rPr>
              <a:t>ya</a:t>
            </a:r>
            <a:r>
              <a:rPr lang="en-US" sz="1125" b="0" i="0" u="none" dirty="0">
                <a:solidFill>
                  <a:srgbClr val="14532D"/>
                </a:solidFill>
                <a:latin typeface="Inter"/>
              </a:rPr>
              <a:t> </a:t>
            </a:r>
            <a:r>
              <a:rPr lang="en-US" sz="1125" b="0" i="0" u="none" dirty="0" err="1">
                <a:solidFill>
                  <a:srgbClr val="14532D"/>
                </a:solidFill>
                <a:latin typeface="Inter"/>
              </a:rPr>
              <a:t>disponemos</a:t>
            </a:r>
            <a:r>
              <a:rPr lang="en-US" sz="1125" b="0" i="0" u="none" dirty="0">
                <a:solidFill>
                  <a:srgbClr val="14532D"/>
                </a:solidFill>
                <a:latin typeface="Inter"/>
              </a:rPr>
              <a:t> de </a:t>
            </a:r>
            <a:r>
              <a:rPr lang="en-US" sz="1125" b="0" i="0" u="none" dirty="0" err="1">
                <a:solidFill>
                  <a:srgbClr val="14532D"/>
                </a:solidFill>
                <a:latin typeface="Inter"/>
              </a:rPr>
              <a:t>ellos</a:t>
            </a:r>
            <a:r>
              <a:rPr sz="1125" b="0" i="0" u="none" dirty="0">
                <a:solidFill>
                  <a:srgbClr val="14532D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171950"/>
            <a:ext cx="41152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14532D"/>
                </a:solidFill>
                <a:latin typeface="Inter"/>
              </a:rPr>
              <a:t>Inversión amortizada:</a:t>
            </a:r>
            <a:r>
              <a:rPr sz="1125" b="0" i="0" u="none">
                <a:solidFill>
                  <a:srgbClr val="14532D"/>
                </a:solidFill>
                <a:latin typeface="Inter"/>
              </a:rPr>
              <a:t> No se requiere comprar nuevos actuadores ni cajas reductoras metálicas caras.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2800350"/>
            <a:ext cx="372546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6534"/>
                </a:solidFill>
                <a:latin typeface="Space Grotesk"/>
              </a:rPr>
              <a:t>Componentes en Inventario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296" y="2562225"/>
            <a:ext cx="49006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Componentes Faltantes por Adquirir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7871" y="2981325"/>
            <a:ext cx="5143053" cy="37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Rodamientos</a:t>
            </a:r>
            <a:r>
              <a:rPr sz="1125" b="1" i="0" u="none" dirty="0">
                <a:solidFill>
                  <a:srgbClr val="334155"/>
                </a:solidFill>
                <a:latin typeface="Inter"/>
              </a:rPr>
              <a:t> y </a:t>
            </a: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Baleros</a:t>
            </a:r>
            <a:r>
              <a:rPr sz="1125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Modelos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608ZZ y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rodamientos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axiales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para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ejes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articulación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 o </a:t>
            </a:r>
            <a:r>
              <a:rPr lang="en-US" sz="1125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Inter"/>
              </a:rPr>
              <a:t>su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Inter"/>
              </a:rPr>
              <a:t>defecto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Inter"/>
              </a:rPr>
              <a:t>impresos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125" b="0" i="0" u="none" dirty="0" err="1">
                <a:solidFill>
                  <a:srgbClr val="334155"/>
                </a:solidFill>
                <a:latin typeface="Inter"/>
              </a:rPr>
              <a:t>en</a:t>
            </a:r>
            <a:r>
              <a:rPr lang="en-US" sz="1125" b="0" i="0" u="none" dirty="0">
                <a:solidFill>
                  <a:srgbClr val="334155"/>
                </a:solidFill>
                <a:latin typeface="Inter"/>
              </a:rPr>
              <a:t> 3d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7871" y="3462337"/>
            <a:ext cx="5143053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Ejes y Tornillería: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Pasadores de acero y pernos métricos para diseñar alojamientos 3D.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7871" y="3943350"/>
            <a:ext cx="5143053" cy="182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25" b="1" i="0" u="none" dirty="0">
                <a:solidFill>
                  <a:srgbClr val="334155"/>
                </a:solidFill>
                <a:latin typeface="Inter"/>
              </a:rPr>
              <a:t>Kit de </a:t>
            </a: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Bandas</a:t>
            </a:r>
            <a:r>
              <a:rPr sz="1125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Correas GT2 / HTD 3M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dentadas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3C0DB-5E85-C6A6-4768-EFBC09D86DA6}"/>
              </a:ext>
            </a:extLst>
          </p:cNvPr>
          <p:cNvSpPr txBox="1"/>
          <p:nvPr/>
        </p:nvSpPr>
        <p:spPr>
          <a:xfrm>
            <a:off x="6096000" y="4280796"/>
            <a:ext cx="5143053" cy="182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lang="en-US" sz="1125" b="1" i="0" u="none" dirty="0" err="1">
                <a:solidFill>
                  <a:srgbClr val="C00000"/>
                </a:solidFill>
                <a:latin typeface="Inter"/>
              </a:rPr>
              <a:t>Aprox</a:t>
            </a:r>
            <a:r>
              <a:rPr lang="en-US" sz="1125" b="1" dirty="0">
                <a:solidFill>
                  <a:srgbClr val="C00000"/>
                </a:solidFill>
                <a:latin typeface="Inter"/>
              </a:rPr>
              <a:t>. 2500</a:t>
            </a:r>
            <a:endParaRPr sz="1125" b="0" i="0" u="none" dirty="0">
              <a:solidFill>
                <a:srgbClr val="C0000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33700"/>
            <a:ext cx="29273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933700"/>
            <a:ext cx="29273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2933700"/>
            <a:ext cx="29273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Protocolos de Seguridad Mecatrónica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RESTRICCIONES DE DISEÑO · PUNTO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Condiciones y Restricciones de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314700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Inter"/>
              </a:rPr>
              <a:t>Validación por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657600"/>
            <a:ext cx="36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31407"/>
                </a:solidFill>
                <a:latin typeface="Inter"/>
              </a:rPr>
              <a:t>Sin topes mecánicos duros.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C2D12"/>
                </a:solidFill>
                <a:latin typeface="Inter"/>
              </a:rPr>
              <a:t>Límites cinemáticos controlados por firmware para evitar impactos destructivos y desalineación de correas.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314700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Inter"/>
              </a:rPr>
              <a:t>Poleas y Bandas Cubiertas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657600"/>
            <a:ext cx="36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431407"/>
                </a:solidFill>
                <a:latin typeface="Inter"/>
              </a:rPr>
              <a:t>Carcasas</a:t>
            </a:r>
            <a:r>
              <a:rPr sz="1125" b="0" i="0" u="none" dirty="0">
                <a:solidFill>
                  <a:srgbClr val="431407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31407"/>
                </a:solidFill>
                <a:latin typeface="Inter"/>
              </a:rPr>
              <a:t>protectoras</a:t>
            </a:r>
            <a:r>
              <a:rPr sz="1125" b="0" i="0" u="none" dirty="0">
                <a:solidFill>
                  <a:srgbClr val="431407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31407"/>
                </a:solidFill>
                <a:latin typeface="Inter"/>
              </a:rPr>
              <a:t>cerradas</a:t>
            </a:r>
            <a:r>
              <a:rPr sz="1125" b="0" i="0" u="none" dirty="0">
                <a:solidFill>
                  <a:srgbClr val="431407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Blindaje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en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puntos de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pellizco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y zonas de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alta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tensión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para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prevenir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atrapamiento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dedos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o cables.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425" y="3314700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A3412"/>
                </a:solidFill>
                <a:latin typeface="Inter"/>
              </a:rPr>
              <a:t>Paro de Emergencia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425" y="3657600"/>
            <a:ext cx="36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31407"/>
                </a:solidFill>
                <a:latin typeface="Inter"/>
              </a:rPr>
              <a:t>Interrupción electromecánica.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425" y="3952875"/>
            <a:ext cx="30225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 err="1">
                <a:solidFill>
                  <a:srgbClr val="7C2D12"/>
                </a:solidFill>
                <a:latin typeface="Inter"/>
              </a:rPr>
              <a:t>Boton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físic</a:t>
            </a:r>
            <a:r>
              <a:rPr lang="en-US" sz="1050" b="0" i="0" u="none" dirty="0" err="1">
                <a:solidFill>
                  <a:srgbClr val="7C2D12"/>
                </a:solidFill>
                <a:latin typeface="Inter"/>
              </a:rPr>
              <a:t>o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de corte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instantáneo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que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desenergiza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la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línea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potencia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y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congela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el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manipulador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7C2D12"/>
                </a:solidFill>
                <a:latin typeface="Inter"/>
              </a:rPr>
              <a:t>inmediato</a:t>
            </a:r>
            <a:r>
              <a:rPr sz="1050" b="0" i="0" u="none" dirty="0">
                <a:solidFill>
                  <a:srgbClr val="7C2D12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67012"/>
            <a:ext cx="24955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486150" y="2767012"/>
            <a:ext cx="24955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210300" y="2767012"/>
            <a:ext cx="24955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934450" y="2538412"/>
            <a:ext cx="249555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6162675"/>
            <a:ext cx="28581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0" i="0" u="none" dirty="0">
                <a:solidFill>
                  <a:srgbClr val="0F172A"/>
                </a:solidFill>
                <a:latin typeface="Inter"/>
              </a:rPr>
              <a:t>Parámetros</a:t>
            </a:r>
            <a:r>
              <a:rPr sz="1050" b="0" i="0" u="none" dirty="0">
                <a:solidFill>
                  <a:srgbClr val="0F172A"/>
                </a:solidFill>
                <a:latin typeface="Inter"/>
              </a:rPr>
              <a:t> de </a:t>
            </a:r>
            <a:r>
              <a:rPr sz="1050" b="0" i="0" u="none" dirty="0" err="1">
                <a:solidFill>
                  <a:srgbClr val="0F172A"/>
                </a:solidFill>
                <a:latin typeface="Inter"/>
              </a:rPr>
              <a:t>Evaluación</a:t>
            </a:r>
            <a:r>
              <a:rPr sz="1050" b="0" i="0" u="none" dirty="0">
                <a:solidFill>
                  <a:srgbClr val="0F172A"/>
                </a:solidFill>
                <a:latin typeface="Inter"/>
              </a:rPr>
              <a:t> y </a:t>
            </a:r>
            <a:r>
              <a:rPr sz="1050" b="0" i="0" u="none" dirty="0" err="1">
                <a:solidFill>
                  <a:srgbClr val="0F172A"/>
                </a:solidFill>
                <a:latin typeface="Inter"/>
              </a:rPr>
              <a:t>Validación</a:t>
            </a:r>
            <a:r>
              <a:rPr sz="1050" b="0" i="0" u="none" dirty="0">
                <a:solidFill>
                  <a:srgbClr val="0F172A"/>
                </a:solidFill>
                <a:latin typeface="Inter"/>
              </a:rPr>
              <a:t>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ARQUITECTURA Y CONCEPTOS · PUNTO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Criterios de Aceptación Medibles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043237"/>
            <a:ext cx="2619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Space Grotesk"/>
              </a:rPr>
              <a:t>1.5 - 5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576637"/>
            <a:ext cx="2750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Capacidad de Carga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8433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Mantenimiento de postura estática horizontal sin salto de pasos en los motores.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175" y="3043237"/>
            <a:ext cx="2619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284C7"/>
                </a:solidFill>
                <a:latin typeface="Space Grotesk"/>
              </a:rPr>
              <a:t>FS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3576637"/>
            <a:ext cx="2750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Factor de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8433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Margen dinámico para soportar aceleraciones y desaceleraciones sin fatiga de bandas.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043237"/>
            <a:ext cx="200798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0284C7"/>
                </a:solidFill>
                <a:latin typeface="Space Grotesk"/>
              </a:rPr>
              <a:t>Final de Carrera</a:t>
            </a:r>
            <a:endParaRPr sz="2400" b="1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0325" y="3576637"/>
            <a:ext cx="2750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Inter"/>
              </a:rPr>
              <a:t>Límites</a:t>
            </a:r>
            <a:r>
              <a:rPr sz="1275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"/>
              </a:rPr>
              <a:t>por</a:t>
            </a:r>
            <a:r>
              <a:rPr sz="1275" b="1" i="0" u="none" dirty="0">
                <a:solidFill>
                  <a:srgbClr val="0F172A"/>
                </a:solidFill>
                <a:latin typeface="Inter"/>
              </a:rPr>
              <a:t>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8433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Detención controlada por código antes de colisión, sin impacto en topes duros.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475" y="2814637"/>
            <a:ext cx="219075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2850" b="1" i="0" u="none" dirty="0">
                <a:solidFill>
                  <a:srgbClr val="0284C7"/>
                </a:solidFill>
                <a:latin typeface="Space Grotesk"/>
              </a:rPr>
              <a:t>Operación</a:t>
            </a:r>
            <a:r>
              <a:rPr lang="en-US" sz="2850" b="1" i="0" u="none" dirty="0">
                <a:solidFill>
                  <a:srgbClr val="0284C7"/>
                </a:solidFill>
                <a:latin typeface="Space Grotesk"/>
              </a:rPr>
              <a:t> Segura</a:t>
            </a:r>
            <a:endParaRPr sz="2850" b="1" i="0" u="none" dirty="0">
              <a:solidFill>
                <a:srgbClr val="0284C7"/>
              </a:solidFill>
              <a:latin typeface="Space Grotesk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34475" y="3805237"/>
            <a:ext cx="2750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0F172A"/>
                </a:solidFill>
                <a:latin typeface="Inter"/>
              </a:rPr>
              <a:t>Seguridad</a:t>
            </a:r>
            <a:r>
              <a:rPr sz="1275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275" b="1" i="0" u="none" dirty="0" err="1">
                <a:solidFill>
                  <a:srgbClr val="0F172A"/>
                </a:solidFill>
                <a:latin typeface="Inter"/>
              </a:rPr>
              <a:t>Operativa</a:t>
            </a:r>
            <a:endParaRPr sz="1275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34475" y="4071937"/>
            <a:ext cx="2190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Carcasas protectoras en el total de correas síncronas y corte por seta física.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05062"/>
            <a:ext cx="5105400" cy="12954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71912"/>
            <a:ext cx="5105400" cy="1095375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2405062"/>
            <a:ext cx="38100" cy="1295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3871912"/>
            <a:ext cx="38100" cy="10953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24600" y="2261412"/>
            <a:ext cx="5105400" cy="2849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Disposición General de Eslabones y Mecanismos de Transmisión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ARQUITECTURA Y CONCEPTOS · PUNTO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Boceto y Concepto General del Brazo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614612"/>
            <a:ext cx="61007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Inter"/>
              </a:rPr>
              <a:t>Topología Antropomórfica 6-DOF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2890837"/>
            <a:ext cx="4743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Brazo articulado de 6 grados de libertad con planta motriz pesada concentrada en la base inferior y poleas concéntricas en los pivotes.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081462"/>
            <a:ext cx="61007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Inter"/>
              </a:rPr>
              <a:t>Desacoplamiento Estructural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357687"/>
            <a:ext cx="4743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El chasis móvil consta de eslabones tubulares livianos diseñados en 3D para alojar rodamientos y las trayectorias de las bandas.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19375"/>
            <a:ext cx="340355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933700"/>
            <a:ext cx="29273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933700"/>
            <a:ext cx="29273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2933700"/>
            <a:ext cx="29273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Interacción Funcional entre Módulos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ARQUITECTURA Y CONCEPTOS · PUNTO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Subsistemas Mecánico, Electrónico y de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314700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Mecánico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657600"/>
            <a:ext cx="36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Eslabones y poleas síncronas.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Estructuras de PETG/Nylon con posible refuerzo de aluminio, baleros 608ZZ y pernos métricos templados.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314700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Electrónico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657600"/>
            <a:ext cx="36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Potencia e inventario NEMA.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Drivers DM860/TMC alimentados a 36V/24V, seta de paro de corte directo y motores paso a paso existentes.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425" y="3314700"/>
            <a:ext cx="3842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425" y="3657600"/>
            <a:ext cx="3659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Cinemática y límites software.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425" y="3952875"/>
            <a:ext cx="3022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Cálculo de trayectorias, rampas de aceleración y supervisión de envolvente sin depender de topes duros.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4612"/>
            <a:ext cx="34035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614612"/>
            <a:ext cx="34035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614612"/>
            <a:ext cx="340355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614612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4150" y="2614612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2614612"/>
            <a:ext cx="34035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47987"/>
            <a:ext cx="29463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2947987"/>
            <a:ext cx="29463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900" y="2947987"/>
            <a:ext cx="29463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Configuración de Actuación y Transmisión Aprobada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ARQUITECTURA Y CONCEPTOS · PUNTO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Solución Seleccionada para el Brazo 6-DOF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328987"/>
            <a:ext cx="38670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Base &amp; Hombro (J1, J2)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671887"/>
            <a:ext cx="3682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NEMA 34 + Reducción por Poleas.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967162"/>
            <a:ext cx="3041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Montaje fijo en pedestal con rodamientos axiales; entrega más de 46 N·m en el hombro con FS=3.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750" y="3328987"/>
            <a:ext cx="38670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Articulación del Codo (J3)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750" y="3671887"/>
            <a:ext cx="3682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NEMA 17 + Planetaria 10:1 + Banda.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2750" y="3967162"/>
            <a:ext cx="3041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Segunda etapa síncrona para alcanzar 26 N·m, absorbiendo flexión mediante poleas dobles en pivote.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4900" y="3328987"/>
            <a:ext cx="38670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Muñeca &amp; Gripper (J4, J5, J6)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4900" y="3671887"/>
            <a:ext cx="3682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NEMA 17 + Planetarias en Codo.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4900" y="3967162"/>
            <a:ext cx="30416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Actúan como contrapeso dinámico; transmiten par hacia el efector final con correas GT2 en tramos rectos.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05050"/>
            <a:ext cx="106680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125" y="2543175"/>
          <a:ext cx="10191748" cy="2286000"/>
        </p:xfrm>
        <a:graphic>
          <a:graphicData uri="http://schemas.openxmlformats.org/drawingml/2006/table">
            <a:tbl>
              <a:tblPr/>
              <a:tblGrid>
                <a:gridCol w="239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0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Criterio Técnico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Inter"/>
                        </a:rPr>
                        <a:t>Motores Directos Colgados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Motores en Base + Bandas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Ventaja Obtenida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Masa Móvil Suspendida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Inter"/>
                        </a:rPr>
                        <a:t>~4.5 kg (motores + cables)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~1.2 kg (estructura hueca)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-73% de inercia gravitatoria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Torque Requerido en Hombro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Inter"/>
                        </a:rPr>
                        <a:t>59.5 N·m a 80 N·m (FS=3)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46.4 N·m (FS=3)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Factible con NEMA 34 comercial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Uso de Inventario Existente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Inter"/>
                        </a:rPr>
                        <a:t>Incompatible (falta torque)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100% de motores aprovechados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Cero gasto en nuevos actuadores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Seguridad y Protección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Topes físicos con impacto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Software + Poleas cubiertas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Sin colisiones destructivas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Riesgo Térmico en Plásticos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C2626"/>
                          </a:solidFill>
                          <a:latin typeface="Inter"/>
                        </a:rPr>
                        <a:t>Alto (motores calientan PETG)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Inter"/>
                        </a:rPr>
                        <a:t>Nulo (actuadores en chasis base)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Preserva rigidez dimensional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Matriz Comparativa de Ingeniería y Decisión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ARQUITECTURA Y CONCEPTOS · PUNTO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Justificación Técnica y Comparativa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86025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7700" y="2486025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53400" y="2486025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943350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57700" y="3943350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53400" y="3943350"/>
            <a:ext cx="327660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2871787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2871787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600450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432911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4329112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6162675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Flujo de Potencia, Señales de Control y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ARQUITECTURA Y CONCEPTOS · PUNTO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71525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Diagrama de Arquitectura General del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676525"/>
            <a:ext cx="3619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Inter"/>
              </a:rPr>
              <a:t>HOST / INTERFAZ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62" y="2857500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Control por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3086100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Cinemática Inversa y Límites Virtuales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0" y="2676525"/>
            <a:ext cx="3619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Inter"/>
              </a:rPr>
              <a:t>PROCESADOR EMBEBIDO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5762" y="2857500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Generador Step/Dir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6250" y="3086100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Rampas Suaves y Enclavamiento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1950" y="2676525"/>
            <a:ext cx="3619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EA580C"/>
                </a:solidFill>
                <a:latin typeface="Inter"/>
              </a:rPr>
              <a:t>SEGURIDAD &amp; POTENCIA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462" y="2857500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Seta Paro &amp;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1950" y="3086100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Corte Físico y Alimentación 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" y="4133850"/>
            <a:ext cx="3619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PLANTA MOTRIZ (INVENTARIO)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62" y="4314825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Motores NEMA 34 /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550" y="4543425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Cajas Planetarias 10:1 en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6250" y="4133850"/>
            <a:ext cx="3619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TRANSMISIÓN PROTEGIDA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5762" y="4314825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Poleas &amp; Bandas Cubiertas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250" y="4543425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Baleros 608ZZ en Ejes de Giro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1950" y="4133850"/>
            <a:ext cx="3619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Inter"/>
              </a:rPr>
              <a:t>ESTRUCTURA 6-DOF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462" y="4314825"/>
            <a:ext cx="38004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PETG / Aluminio &amp; Gripper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1950" y="4543425"/>
            <a:ext cx="361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Manipulación con Factor FS=3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3250" y="4106167"/>
            <a:ext cx="5905500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43250" y="4106167"/>
            <a:ext cx="5905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04057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656457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101" y="2266057"/>
            <a:ext cx="11709796" cy="525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Space Grotesk"/>
              </a:rPr>
              <a:t>Proyecto Brazo Robótico Articulado 6-DOF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2944117"/>
            <a:ext cx="90487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Integración mecatrónica completa: transición a bandas síncronas, cálculos dinámicos con FS=3, seguridad por software y aprovechamiento total del inventario.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0328" y="5163442"/>
            <a:ext cx="3131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Sesión de Preguntas y Respuestas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2040" y="4382392"/>
            <a:ext cx="15120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Inter"/>
              </a:rPr>
              <a:t>6 DOF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2040" y="4658617"/>
            <a:ext cx="15120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Grados de Libertad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090" y="4382392"/>
            <a:ext cx="16073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Inter"/>
              </a:rPr>
              <a:t>FS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090" y="4658617"/>
            <a:ext cx="1607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Factor de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4340" y="4382392"/>
            <a:ext cx="17025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Inter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4340" y="4658617"/>
            <a:ext cx="1702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Motores en Inventario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6700" y="4382392"/>
            <a:ext cx="13049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Inter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700" y="4658617"/>
            <a:ext cx="1304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Límites Virtuales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7560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https://d2t1xqejof9utc.cloudfront.net/screenshots/pics/2c4000bd30abd1d5cc2cf179f11e90cb/large.jpg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416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blog.grabcad.com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8227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Inter"/>
              </a:rPr>
              <a:t>https://vxb.com/cdn/shop/files/nema23-stepper-motor-planetary-gearbox-front.jpg?v=1770448649&amp;width=480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1535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vxb.com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2325</Words>
  <Application>Microsoft Office PowerPoint</Application>
  <PresentationFormat>Widescreen</PresentationFormat>
  <Paragraphs>297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Inter</vt:lpstr>
      <vt:lpstr>Arial</vt:lpstr>
      <vt:lpstr>Aptos</vt:lpstr>
      <vt:lpstr>Space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MARQUEZ ALEMAN, DIEGO</dc:creator>
  <cp:keywords/>
  <dc:description>generated using python-pptx</dc:description>
  <cp:lastModifiedBy>MARQUEZ ALEMAN, DIEGO</cp:lastModifiedBy>
  <cp:revision>3</cp:revision>
  <dcterms:created xsi:type="dcterms:W3CDTF">2013-01-27T09:14:16Z</dcterms:created>
  <dcterms:modified xsi:type="dcterms:W3CDTF">2026-10-21T20:50:12Z</dcterms:modified>
  <cp:category/>
</cp:coreProperties>
</file>